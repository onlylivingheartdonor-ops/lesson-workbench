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treasure is the gospel: "the light of the knowledge of the glory of God in the face of Jesus Christ" (v. 6). The container is ordinary, breakable people. God does this on purpose, so that it is plain the power is his and not ours. Our weakness is not a barrier to God's work. It is the stage on which his power is shown.</a:t>
            </a:r>
          </a:p>
          <a:p/>
          <a:p>
            <a:r>
              <a:t>“signifies, more literally, vessels made of shells, which are very brittle” — Adam Clarke, Commentary on the Bible, on 2 Corinthians 4:7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Paul lists four hardships, and each one has a "but not": troubled but not distressed, perplexed but not in despair, persecuted but not forsaken, cast down but not destroyed. Christians are not spared trouble. But trouble never has the last word, because God never leaves us. Jesus was truly forsaken on the cross so that his people never will be.</a:t>
            </a:r>
          </a:p>
          <a:p/>
          <a:p>
            <a:r>
              <a:t>“Whatever condition the children of God may be in, in this world, they have a "but not" to comfort themselves with” — Matthew Henry, Commentary on the Whole Bible, on 2 Corinthians 4:8-18</a:t>
            </a:r>
          </a:p>
          <a:p/>
          <a:p>
            <a:r>
              <a:t>“Jesus was forsaken by both; so much do His sufferings exceed those of His people” — Andrew Robert Fausset, Commentary Critical and Explanatory on the Whole Bible (Jamieson, Fausset and Brown), on 2 Corinthians 4:9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which cause we faint not" (v. 16). Our bodies wear out, but inwardly we are renewed day by day. Paul calls his sufferings light and momentary when set beside an "eternal weight of glory." The key is where we fix our eyes. We look past what is seen and temporary to what is unseen and eternal, above all the resurrection (v. 14).</a:t>
            </a:r>
          </a:p>
          <a:p/>
          <a:p>
            <a:r>
              <a:t>“It was the assured hope of the resurrection which sustained them in all their trials.” — Albert Barnes, Notes on the New Testament, on 2 Corinthians 4:14</a:t>
            </a:r>
          </a:p>
          <a:p/>
          <a:p>
            <a:r>
              <a:t>“While we aim not at the things which are seen; do not make them our object; are not striving to obtain them” — Adam Clarke, Commentary on the Bible, on 2 Corinthians 4:18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Treasure in Clay Jars</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In hard times God's power shows through our weakness, and we do not lose heart because we look to what is unseen and eternal.</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2 Corinthians 4:7-18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4:7-18 (1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But we have this treasure in earthen vessels, that the excellency of the power may be of God, and not of us. </a:t>
            </a:r>
            <a:r>
              <a:rPr sz="1600" b="1" i="0">
                <a:solidFill>
                  <a:srgbClr val="2E5E8C"/>
                </a:solidFill>
              </a:rPr>
              <a:t>8 </a:t>
            </a:r>
            <a:r>
              <a:rPr sz="2800" b="0" i="0">
                <a:solidFill>
                  <a:srgbClr val="222B36"/>
                </a:solidFill>
              </a:rPr>
              <a:t>We are troubled on every side, yet not distressed; we are perplexed, but not in despair; </a:t>
            </a:r>
            <a:r>
              <a:rPr sz="1600" b="1" i="0">
                <a:solidFill>
                  <a:srgbClr val="2E5E8C"/>
                </a:solidFill>
              </a:rPr>
              <a:t>9 </a:t>
            </a:r>
            <a:r>
              <a:rPr sz="2800" b="0" i="0">
                <a:solidFill>
                  <a:srgbClr val="222B36"/>
                </a:solidFill>
              </a:rPr>
              <a:t>Persecuted, but not forsaken; cast down, but not destroyed;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4:7-18 (2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10 </a:t>
            </a:r>
            <a:r>
              <a:rPr sz="2800" b="0" i="0">
                <a:solidFill>
                  <a:srgbClr val="222B36"/>
                </a:solidFill>
              </a:rPr>
              <a:t>Always bearing about in the body the dying of the Lord Jesus, that the life also of Jesus might be made manifest in our body. </a:t>
            </a:r>
            <a:r>
              <a:rPr sz="1600" b="1" i="0">
                <a:solidFill>
                  <a:srgbClr val="2E5E8C"/>
                </a:solidFill>
              </a:rPr>
              <a:t>11 </a:t>
            </a:r>
            <a:r>
              <a:rPr sz="2800" b="0" i="0">
                <a:solidFill>
                  <a:srgbClr val="222B36"/>
                </a:solidFill>
              </a:rPr>
              <a:t>For we which live are alway delivered unto death for Jesus’ sake, that the life also of Jesus might be made manifest in our mortal flesh. </a:t>
            </a:r>
            <a:r>
              <a:rPr sz="1600" b="1" i="0">
                <a:solidFill>
                  <a:srgbClr val="2E5E8C"/>
                </a:solidFill>
              </a:rPr>
              <a:t>12 </a:t>
            </a:r>
            <a:r>
              <a:rPr sz="2800" b="0" i="0">
                <a:solidFill>
                  <a:srgbClr val="222B36"/>
                </a:solidFill>
              </a:rPr>
              <a:t>So then death worketh in us, but life in you.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4:7-18 (3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13 </a:t>
            </a:r>
            <a:r>
              <a:rPr sz="2800" b="0" i="0">
                <a:solidFill>
                  <a:srgbClr val="222B36"/>
                </a:solidFill>
              </a:rPr>
              <a:t>We having the same spirit of faith, according as it is written, I believed, and therefore have I spoken; we also believe, and therefore speak; </a:t>
            </a:r>
            <a:r>
              <a:rPr sz="1600" b="1" i="0">
                <a:solidFill>
                  <a:srgbClr val="2E5E8C"/>
                </a:solidFill>
              </a:rPr>
              <a:t>14 </a:t>
            </a:r>
            <a:r>
              <a:rPr sz="2800" b="0" i="0">
                <a:solidFill>
                  <a:srgbClr val="222B36"/>
                </a:solidFill>
              </a:rPr>
              <a:t>Knowing that he which raised up the Lord Jesus shall raise up us also by Jesus, and shall present us with you. </a:t>
            </a:r>
            <a:r>
              <a:rPr sz="1600" b="1" i="0">
                <a:solidFill>
                  <a:srgbClr val="2E5E8C"/>
                </a:solidFill>
              </a:rPr>
              <a:t>15 </a:t>
            </a:r>
            <a:r>
              <a:rPr sz="2800" b="0" i="0">
                <a:solidFill>
                  <a:srgbClr val="222B36"/>
                </a:solidFill>
              </a:rPr>
              <a:t>For all things are for your sakes, that the abundant grace might through the thanksgiving of many redound to the glory of God.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4:7-18 (4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16 </a:t>
            </a:r>
            <a:r>
              <a:rPr sz="2800" b="0" i="0">
                <a:solidFill>
                  <a:srgbClr val="222B36"/>
                </a:solidFill>
              </a:rPr>
              <a:t>For which cause we faint not; but though our outward man perish, yet the inward man is renewed day by day. </a:t>
            </a:r>
            <a:r>
              <a:rPr sz="1600" b="1" i="0">
                <a:solidFill>
                  <a:srgbClr val="2E5E8C"/>
                </a:solidFill>
              </a:rPr>
              <a:t>17 </a:t>
            </a:r>
            <a:r>
              <a:rPr sz="2800" b="0" i="0">
                <a:solidFill>
                  <a:srgbClr val="222B36"/>
                </a:solidFill>
              </a:rPr>
              <a:t>For our light affliction, which is but for a moment, worketh for us a far more exceeding and eternal weight of glory;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Corinthians 4:7-18 (5 of 5)</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18 </a:t>
            </a:r>
            <a:r>
              <a:rPr sz="2800" b="0" i="0">
                <a:solidFill>
                  <a:srgbClr val="222B36"/>
                </a:solidFill>
              </a:rPr>
              <a:t>While we look not at the things which are seen, but at the things which are not seen: for the things which are seen are temporal; but the things which are not seen are eternal.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God puts his treasure in clay jars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We have this treasure in earthen vessels.</a:t>
            </a:r>
          </a:p>
          <a:p>
            <a:pPr>
              <a:spcAft>
                <a:spcPts val="1800"/>
              </a:spcAft>
            </a:pPr>
            <a:r>
              <a:rPr sz="3000" b="1" i="0">
                <a:solidFill>
                  <a:srgbClr val="2E5E8C"/>
                </a:solidFill>
              </a:rPr>
              <a:t>•  </a:t>
            </a:r>
            <a:r>
              <a:rPr sz="3000" b="0" i="0">
                <a:solidFill>
                  <a:srgbClr val="222B36"/>
                </a:solidFill>
              </a:rPr>
              <a:t>Our weakness shows that the power is of God.</a:t>
            </a:r>
          </a:p>
          <a:p>
            <a:pPr>
              <a:spcAft>
                <a:spcPts val="1000"/>
              </a:spcAft>
            </a:pPr>
            <a:r>
              <a:rPr sz="2000" b="0" i="1">
                <a:solidFill>
                  <a:srgbClr val="6B7280"/>
                </a:solidFill>
              </a:rPr>
              <a:t>Read: 2 Corinthians 4:6-7; 2 Corinthians 12:9-10; 1 Corinthians 1:27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Pressed, but not crushed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Persecuted, but not forsaken.</a:t>
            </a:r>
          </a:p>
          <a:p>
            <a:pPr>
              <a:spcAft>
                <a:spcPts val="1800"/>
              </a:spcAft>
            </a:pPr>
            <a:r>
              <a:rPr sz="3000" b="1" i="0">
                <a:solidFill>
                  <a:srgbClr val="2E5E8C"/>
                </a:solidFill>
              </a:rPr>
              <a:t>•  </a:t>
            </a:r>
            <a:r>
              <a:rPr sz="3000" b="0" i="0">
                <a:solidFill>
                  <a:srgbClr val="222B36"/>
                </a:solidFill>
              </a:rPr>
              <a:t>Cast down, but not destroyed.</a:t>
            </a:r>
          </a:p>
          <a:p>
            <a:pPr>
              <a:spcAft>
                <a:spcPts val="1000"/>
              </a:spcAft>
            </a:pPr>
            <a:r>
              <a:rPr sz="2000" b="0" i="1">
                <a:solidFill>
                  <a:srgbClr val="6B7280"/>
                </a:solidFill>
              </a:rPr>
              <a:t>Read: 2 Corinthians 4:8-12; Hebrews 13:5; Psalm 34:19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Look at what is unseen and eternal</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Though our outward man perish, the inward man is renewed day by day.</a:t>
            </a:r>
          </a:p>
          <a:p>
            <a:pPr>
              <a:spcAft>
                <a:spcPts val="1800"/>
              </a:spcAft>
            </a:pPr>
            <a:r>
              <a:rPr sz="3000" b="1" i="0">
                <a:solidFill>
                  <a:srgbClr val="2E5E8C"/>
                </a:solidFill>
              </a:rPr>
              <a:t>•  </a:t>
            </a:r>
            <a:r>
              <a:rPr sz="3000" b="0" i="0">
                <a:solidFill>
                  <a:srgbClr val="222B36"/>
                </a:solidFill>
              </a:rPr>
              <a:t>The things which are not seen are eternal.</a:t>
            </a:r>
          </a:p>
          <a:p>
            <a:pPr>
              <a:spcAft>
                <a:spcPts val="1000"/>
              </a:spcAft>
            </a:pPr>
            <a:r>
              <a:rPr sz="2000" b="0" i="1">
                <a:solidFill>
                  <a:srgbClr val="6B7280"/>
                </a:solidFill>
              </a:rPr>
              <a:t>Read: 2 Corinthians 4:14-18; Romans 8:18; 1 Peter 1:6-7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would God choose to put his treasure in fragile people instead of impressive ones?</a:t>
            </a:r>
          </a:p>
          <a:p>
            <a:pPr>
              <a:spcAft>
                <a:spcPts val="1800"/>
              </a:spcAft>
            </a:pPr>
            <a:r>
              <a:rPr sz="2800" b="1" i="0">
                <a:solidFill>
                  <a:srgbClr val="2E5E8C"/>
                </a:solidFill>
              </a:rPr>
              <a:t>2.  </a:t>
            </a:r>
            <a:r>
              <a:rPr sz="2800" b="0" i="0">
                <a:solidFill>
                  <a:srgbClr val="222B36"/>
                </a:solidFill>
              </a:rPr>
              <a:t>Which of the four "but not" phrases in verses 8-9 speaks most to you, and why?</a:t>
            </a:r>
          </a:p>
          <a:p>
            <a:pPr>
              <a:spcAft>
                <a:spcPts val="1800"/>
              </a:spcAft>
            </a:pPr>
            <a:r>
              <a:rPr sz="2800" b="1" i="0">
                <a:solidFill>
                  <a:srgbClr val="2E5E8C"/>
                </a:solidFill>
              </a:rPr>
              <a:t>3.  </a:t>
            </a:r>
            <a:r>
              <a:rPr sz="2800" b="0" i="0">
                <a:solidFill>
                  <a:srgbClr val="222B36"/>
                </a:solidFill>
              </a:rPr>
              <a:t>Paul calls his afflictions "light" and "but for a moment." How can he say that, given what he suffered?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Treasure in Clay Jars</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What practical things help you "look at the things which are not seen" when life is hard?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