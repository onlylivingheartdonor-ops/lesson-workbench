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begins with a test: "no man can say that Jesus is the Lord, but by the Holy Ghost" (v. 3). The Spirit's first and greatest work is to bring people to honour Jesus. Any claimed spiritual experience that does not exalt Christ is not from the Holy Spirit.</a:t>
            </a:r>
          </a:p>
          <a:p/>
          <a:p>
            <a:r>
              <a:t>“The design of the passage is to give them some simple general guide by which they could at once recognize the operations of the Spirit of God” — Albert Barnes, Notes on the New Testament, on 1 Corinthians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diversities of gifts, but the same Spirit" (v. 4). Every believer is given some "manifestation of the Spirit ... to profit withal," that is, for the common good (v. 7). Gifts are not trophies to display but tools to serve others. No one has every gift, and no one has none.</a:t>
            </a:r>
          </a:p>
          <a:p/>
          <a:p>
            <a:r>
              <a:t>“Whatever gifts God has bestowed, or in what various ways soever the Spirit of God may have manifested himself, it is all for the common benefit of the Church.” — Adam Clarke, Commentary on the Bible, on 1 Corinthians 12:7</a:t>
            </a:r>
          </a:p>
          <a:p/>
          <a:p>
            <a:r>
              <a:t>“Gifts and graces, charismata and charis, greatly differ.”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these worketh that one and the selfsame Spirit, dividing to every man severally as he will" (v. 11). The Spirit decides who receives which gift, so there is no room for pride or envy. Paul goes on to show "a more excellent way" (12:31): love, without which every gift is empty (13:1-3).</a:t>
            </a:r>
          </a:p>
          <a:p/>
          <a:p>
            <a:r>
              <a:t>“All these are to be traced to him.” — Albert Barnes, Notes on the New Testament, on 1 Corinthians 12:11</a:t>
            </a:r>
          </a:p>
          <a:p/>
          <a:p>
            <a:r>
              <a:t>“A man may possess the best of all these gifts, and yet be deficient in what is essentially necessary to his salvation, for he may be without that love” — Adam Clarke, Commentary on the Bible, on 1 Corinthians 12:31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Christians agree that the Holy Spirit gives gifts to every believer for the good of the church; that the Spirit leads us to confess Jesus as Lord; that gifts must be used in love and in good order (1 Corinthians 14:40); that God hears and answers prayer for the sick; and that every claim to speak for God must be tested by Scripture. They differ over whether the more extraordinary gifts listed in verses 8-10 (prophecy, tongues, interpretation, gifts of healing and miracles) continue in the church today in the same way as in the apostles' time, and over whether there is a "baptism in the Holy Spirit" after conversion, marked by speaking in tongues. Here are the main views of the five traditions, each described as its own teachers would describe it. Within most traditions, individual churches and believers vary.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Gifts of the Spirit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one Spirit gives every believer gifts for the common good and leads us to confess Jesus as Lord; Christians share this while differing honestly over whether the extraordinary gifts continue today.</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12:1-11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concerning spiritual gifts, brethren, I would not have you ignorant. </a:t>
            </a:r>
            <a:r>
              <a:rPr sz="1600" b="1" i="0">
                <a:solidFill>
                  <a:srgbClr val="2E5E8C"/>
                </a:solidFill>
              </a:rPr>
              <a:t>2 </a:t>
            </a:r>
            <a:r>
              <a:rPr sz="2800" b="0" i="0">
                <a:solidFill>
                  <a:srgbClr val="222B36"/>
                </a:solidFill>
              </a:rPr>
              <a:t>Ye know that ye were Gentiles, carried away unto these dumb idols, even as ye were led. </a:t>
            </a:r>
            <a:r>
              <a:rPr sz="1600" b="1" i="0">
                <a:solidFill>
                  <a:srgbClr val="2E5E8C"/>
                </a:solidFill>
              </a:rPr>
              <a:t>3 </a:t>
            </a:r>
            <a:r>
              <a:rPr sz="2800" b="0" i="0">
                <a:solidFill>
                  <a:srgbClr val="222B36"/>
                </a:solidFill>
              </a:rPr>
              <a:t>Wherefore I give you to understand, that no man speaking by the Spirit of God calleth Jesus accursed: and that no man can say that Jesus is the Lord, but by the Holy Ghost.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Now there are diversities of gifts, but the same Spirit. </a:t>
            </a:r>
            <a:r>
              <a:rPr sz="1600" b="1" i="0">
                <a:solidFill>
                  <a:srgbClr val="2E5E8C"/>
                </a:solidFill>
              </a:rPr>
              <a:t>5 </a:t>
            </a:r>
            <a:r>
              <a:rPr sz="2800" b="0" i="0">
                <a:solidFill>
                  <a:srgbClr val="222B36"/>
                </a:solidFill>
              </a:rPr>
              <a:t>And there are differences of administrations, but the same Lord. </a:t>
            </a:r>
            <a:r>
              <a:rPr sz="1600" b="1" i="0">
                <a:solidFill>
                  <a:srgbClr val="2E5E8C"/>
                </a:solidFill>
              </a:rPr>
              <a:t>6 </a:t>
            </a:r>
            <a:r>
              <a:rPr sz="2800" b="0" i="0">
                <a:solidFill>
                  <a:srgbClr val="222B36"/>
                </a:solidFill>
              </a:rPr>
              <a:t>And there are diversities of operations, but it is the same God which worketh all in all. </a:t>
            </a:r>
            <a:r>
              <a:rPr sz="1600" b="1" i="0">
                <a:solidFill>
                  <a:srgbClr val="2E5E8C"/>
                </a:solidFill>
              </a:rPr>
              <a:t>7 </a:t>
            </a:r>
            <a:r>
              <a:rPr sz="2800" b="0" i="0">
                <a:solidFill>
                  <a:srgbClr val="222B36"/>
                </a:solidFill>
              </a:rPr>
              <a:t>But the manifestation of the Spirit is given to every man to profit withal.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to one is given by the Spirit the word of wisdom; to another the word of knowledge by the same Spirit; </a:t>
            </a:r>
            <a:r>
              <a:rPr sz="1600" b="1" i="0">
                <a:solidFill>
                  <a:srgbClr val="2E5E8C"/>
                </a:solidFill>
              </a:rPr>
              <a:t>9 </a:t>
            </a:r>
            <a:r>
              <a:rPr sz="2800" b="0" i="0">
                <a:solidFill>
                  <a:srgbClr val="222B36"/>
                </a:solidFill>
              </a:rPr>
              <a:t>To another faith by the same Spirit; to another the gifts of healing by the same Spirit; </a:t>
            </a:r>
            <a:r>
              <a:rPr sz="1600" b="1" i="0">
                <a:solidFill>
                  <a:srgbClr val="2E5E8C"/>
                </a:solidFill>
              </a:rPr>
              <a:t>10 </a:t>
            </a:r>
            <a:r>
              <a:rPr sz="2800" b="0" i="0">
                <a:solidFill>
                  <a:srgbClr val="222B36"/>
                </a:solidFill>
              </a:rPr>
              <a:t>To another the working of miracles; to another prophecy; to another discerning of spirits; to another divers kinds of tongues; to another the interpretation of tongues: </a:t>
            </a:r>
            <a:r>
              <a:rPr sz="1600" b="1" i="0">
                <a:solidFill>
                  <a:srgbClr val="2E5E8C"/>
                </a:solidFill>
              </a:rPr>
              <a:t>11 </a:t>
            </a:r>
            <a:r>
              <a:rPr sz="2800" b="0" i="0">
                <a:solidFill>
                  <a:srgbClr val="222B36"/>
                </a:solidFill>
              </a:rPr>
              <a:t>But all these worketh that one and the selfsame Spirit, dividing to every man severally as he will.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Spirit leads us to confess Jesus as Lord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No man can say that Jesus is the Lord, but by the Holy Ghost (Spirit).</a:t>
            </a:r>
          </a:p>
          <a:p>
            <a:pPr>
              <a:spcAft>
                <a:spcPts val="1800"/>
              </a:spcAft>
            </a:pPr>
            <a:r>
              <a:rPr sz="3000" b="1" i="0">
                <a:solidFill>
                  <a:srgbClr val="2E5E8C"/>
                </a:solidFill>
              </a:rPr>
              <a:t>•  </a:t>
            </a:r>
            <a:r>
              <a:rPr sz="3000" b="0" i="0">
                <a:solidFill>
                  <a:srgbClr val="222B36"/>
                </a:solidFill>
              </a:rPr>
              <a:t>The Spirit's first work is to honour (glorify) Jesus.</a:t>
            </a:r>
          </a:p>
          <a:p>
            <a:pPr>
              <a:spcAft>
                <a:spcPts val="1000"/>
              </a:spcAft>
            </a:pPr>
            <a:r>
              <a:rPr sz="2000" b="0" i="1">
                <a:solidFill>
                  <a:srgbClr val="6B7280"/>
                </a:solidFill>
              </a:rPr>
              <a:t>Read: 1 Corinthians 12:1-3; John 16:13-14; 1 John 4:1-3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One Spirit, many gifts, for the common good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There are diversities of gifts, but the same Spirit.</a:t>
            </a:r>
          </a:p>
          <a:p>
            <a:pPr>
              <a:spcAft>
                <a:spcPts val="1800"/>
              </a:spcAft>
            </a:pPr>
            <a:r>
              <a:rPr sz="3000" b="1" i="0">
                <a:solidFill>
                  <a:srgbClr val="2E5E8C"/>
                </a:solidFill>
              </a:rPr>
              <a:t>•  </a:t>
            </a:r>
            <a:r>
              <a:rPr sz="3000" b="0" i="0">
                <a:solidFill>
                  <a:srgbClr val="222B36"/>
                </a:solidFill>
              </a:rPr>
              <a:t>Gifts are given for the common good.</a:t>
            </a:r>
          </a:p>
          <a:p>
            <a:pPr>
              <a:spcAft>
                <a:spcPts val="1000"/>
              </a:spcAft>
            </a:pPr>
            <a:r>
              <a:rPr sz="2000" b="0" i="1">
                <a:solidFill>
                  <a:srgbClr val="6B7280"/>
                </a:solidFill>
              </a:rPr>
              <a:t>Read: 1 Corinthians 12:4-7; Romans 12:4-8; 1 Peter 4:10-11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The Spirit gives as he wills, and love is the more excellent way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Spirit divides to every man severally as he will.</a:t>
            </a:r>
          </a:p>
          <a:p>
            <a:pPr>
              <a:spcAft>
                <a:spcPts val="1800"/>
              </a:spcAft>
            </a:pPr>
            <a:r>
              <a:rPr sz="3000" b="1" i="0">
                <a:solidFill>
                  <a:srgbClr val="2E5E8C"/>
                </a:solidFill>
              </a:rPr>
              <a:t>•  </a:t>
            </a:r>
            <a:r>
              <a:rPr sz="3000" b="0" i="0">
                <a:solidFill>
                  <a:srgbClr val="222B36"/>
                </a:solidFill>
              </a:rPr>
              <a:t>Without love, every gift is empty.</a:t>
            </a:r>
          </a:p>
          <a:p>
            <a:pPr>
              <a:spcAft>
                <a:spcPts val="1000"/>
              </a:spcAft>
            </a:pPr>
            <a:r>
              <a:rPr sz="2000" b="0" i="1">
                <a:solidFill>
                  <a:srgbClr val="6B7280"/>
                </a:solidFill>
              </a:rPr>
              <a:t>Read: 1 Corinthians 12:11; 1 Corinthians 12:31; 1 Corinthians 13:1-3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Where Christians differ</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417320"/>
            <a:ext cx="10881360" cy="4754880"/>
          </a:xfrm>
          <a:prstGeom prst="rect">
            <a:avLst/>
          </a:prstGeom>
          <a:noFill/>
        </p:spPr>
        <p:txBody>
          <a:bodyPr wrap="square">
            <a:spAutoFit/>
          </a:bodyPr>
          <a:lstStyle/>
          <a:p>
            <a:pPr>
              <a:spcAft>
                <a:spcPts val="1200"/>
              </a:spcAft>
            </a:pPr>
            <a:r>
              <a:rPr sz="2000" b="1" i="0">
                <a:solidFill>
                  <a:srgbClr val="2E5E8C"/>
                </a:solidFill>
              </a:rPr>
              <a:t>Baptist:  </a:t>
            </a:r>
            <a:r>
              <a:rPr sz="2000" b="0" i="0">
                <a:solidFill>
                  <a:srgbClr val="222B36"/>
                </a:solidFill>
              </a:rPr>
              <a:t>Historically, the sign gifts ended with the apostles; Baptist views today vary widely.</a:t>
            </a:r>
          </a:p>
          <a:p>
            <a:pPr>
              <a:spcAft>
                <a:spcPts val="1200"/>
              </a:spcAft>
            </a:pPr>
            <a:r>
              <a:rPr sz="2000" b="1" i="0">
                <a:solidFill>
                  <a:srgbClr val="2E5E8C"/>
                </a:solidFill>
              </a:rPr>
              <a:t>Methodist and Wesleyan:  </a:t>
            </a:r>
            <a:r>
              <a:rPr sz="2000" b="0" i="0">
                <a:solidFill>
                  <a:srgbClr val="222B36"/>
                </a:solidFill>
              </a:rPr>
              <a:t>Holiness and love come first; the extraordinary gifts are not ruled out.</a:t>
            </a:r>
          </a:p>
          <a:p>
            <a:pPr>
              <a:spcAft>
                <a:spcPts val="1200"/>
              </a:spcAft>
            </a:pPr>
            <a:r>
              <a:rPr sz="2000" b="1" i="0">
                <a:solidFill>
                  <a:srgbClr val="2E5E8C"/>
                </a:solidFill>
              </a:rPr>
              <a:t>Presbyterian and Reformed:  </a:t>
            </a:r>
            <a:r>
              <a:rPr sz="2000" b="0" i="0">
                <a:solidFill>
                  <a:srgbClr val="222B36"/>
                </a:solidFill>
              </a:rPr>
              <a:t>Historically, the revealing and miraculous gifts ceased when Scripture was complete.</a:t>
            </a:r>
          </a:p>
          <a:p>
            <a:pPr>
              <a:spcAft>
                <a:spcPts val="1200"/>
              </a:spcAft>
            </a:pPr>
            <a:r>
              <a:rPr sz="2000" b="1" i="0">
                <a:solidFill>
                  <a:srgbClr val="2E5E8C"/>
                </a:solidFill>
              </a:rPr>
              <a:t>Lutheran:  </a:t>
            </a:r>
            <a:r>
              <a:rPr sz="2000" b="0" i="0">
                <a:solidFill>
                  <a:srgbClr val="222B36"/>
                </a:solidFill>
              </a:rPr>
              <a:t>The Spirit works through Word and Sacrament; extraordinary gifts are possible but not expected.</a:t>
            </a:r>
          </a:p>
          <a:p>
            <a:pPr>
              <a:spcAft>
                <a:spcPts val="1200"/>
              </a:spcAft>
            </a:pPr>
            <a:r>
              <a:rPr sz="2000" b="1" i="0">
                <a:solidFill>
                  <a:srgbClr val="2E5E8C"/>
                </a:solidFill>
              </a:rPr>
              <a:t>Pentecostal and Charismatic:  </a:t>
            </a:r>
            <a:r>
              <a:rPr sz="2000" b="0" i="0">
                <a:solidFill>
                  <a:srgbClr val="222B36"/>
                </a:solidFill>
              </a:rPr>
              <a:t>All the gifts continue today, with a baptism in the Spirit shown by speaking in tongues.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spiritual gifts, according to this passage?</a:t>
            </a:r>
          </a:p>
          <a:p>
            <a:pPr>
              <a:spcAft>
                <a:spcPts val="1800"/>
              </a:spcAft>
            </a:pPr>
            <a:r>
              <a:rPr sz="2800" b="1" i="0">
                <a:solidFill>
                  <a:srgbClr val="2E5E8C"/>
                </a:solidFill>
              </a:rPr>
              <a:t>2.  </a:t>
            </a:r>
            <a:r>
              <a:rPr sz="2800" b="0" i="0">
                <a:solidFill>
                  <a:srgbClr val="222B36"/>
                </a:solidFill>
              </a:rPr>
              <a:t>Why do sincere Christians reading the same chapter reach different conclusions about tongues, prophecy and healing today?</a:t>
            </a:r>
          </a:p>
          <a:p>
            <a:pPr>
              <a:spcAft>
                <a:spcPts val="1800"/>
              </a:spcAft>
            </a:pPr>
            <a:r>
              <a:rPr sz="2800" b="1" i="0">
                <a:solidFill>
                  <a:srgbClr val="2E5E8C"/>
                </a:solidFill>
              </a:rPr>
              <a:t>3.  </a:t>
            </a:r>
            <a:r>
              <a:rPr sz="2800" b="0" i="0">
                <a:solidFill>
                  <a:srgbClr val="222B36"/>
                </a:solidFill>
              </a:rPr>
              <a:t>How can we hold our own convictions about the gifts while loving believers who see this differently?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What gifts has God given you, and how could you use one this week to serve others?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