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notesMaster" Target="notesMasters/notesMaster1.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hypocrites prayed on street corners so that people would admire them. They got what they wanted, the admiration, and that was all they got. Jesus calls us into a private room with the door shut. Public prayer is not wrong, since Jesus prayed in public too. The question is who we are really talking to.</a:t>
            </a:r>
          </a:p>
          <a:p/>
          <a:p>
            <a:r>
              <a:t>“Prayer is the most secret intercourse of the soul with God, and as it were the conversation of one heart with another.” — Adam Clarke, Commentary on the Bible, on Matthew 6:6</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do not pray to give God information. "Your Father knoweth what things ye have need of, before ye ask him" (v. 8). That does not make prayer pointless. It frees us from trying to impress God with many words. Prayer changes us. It humbles us, reminds us that we depend on him, and lifts our hearts toward him.</a:t>
            </a:r>
          </a:p>
          <a:p/>
          <a:p>
            <a:r>
              <a:t>“Prayer is not designed to inform God, but to give man a sight of his misery; to humble his heart, to excite his desire, to inflame his faith, to animate his hope, to raise his soul from earth to heaven” — Adam Clarke, Commentary on the Bible, on Matthew 6:8</a:t>
            </a:r>
          </a:p>
          <a:p/>
          <a:p>
            <a:r>
              <a:t>“We shall come with hope and familiar confidence, for 'your heavenly Father knoweth what things ye have need of.'” — Alexander Maclaren, Expositions of Holy Scripture, on Matthew 6:9</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Lord's Prayer begins with God: his name, his kingdom, his will. Only then does it turn to us: daily bread, forgiveness, and protection from temptation. That order is a good school for all our praying. Notice too that it says "our" and "us" all the way through. Even alone in the closet, we pray as members of God's family.</a:t>
            </a:r>
          </a:p>
          <a:p/>
          <a:p>
            <a:r>
              <a:t>“This passage contains the Lord's prayer, a composition unequalled for comprehensiveness and for beauty.” — Albert Barnes, Notes on the New Testament, on Matthew 6:9</a:t>
            </a:r>
          </a:p>
          <a:p/>
          <a:p>
            <a:r>
              <a:t>“This petition implies our dependence on God for the supply of our wants.” — Albert Barnes, Notes on the New Testament, on Matthew 6:11</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640080" y="3246120"/>
            <a:ext cx="1463040" cy="73152"/>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1463040"/>
            <a:ext cx="10881360" cy="1737360"/>
          </a:xfrm>
          <a:prstGeom prst="rect">
            <a:avLst/>
          </a:prstGeom>
          <a:noFill/>
        </p:spPr>
        <p:txBody>
          <a:bodyPr wrap="square">
            <a:spAutoFit/>
          </a:bodyPr>
          <a:lstStyle/>
          <a:p>
            <a:pPr>
              <a:spcAft>
                <a:spcPts val="1000"/>
              </a:spcAft>
            </a:pPr>
            <a:r>
              <a:rPr sz="4400" b="1" i="0">
                <a:solidFill>
                  <a:srgbClr val="222B36"/>
                </a:solidFill>
              </a:rPr>
              <a:t>Teach Us to Pray</a:t>
            </a:r>
          </a:p>
        </p:txBody>
      </p:sp>
      <p:sp>
        <p:nvSpPr>
          <p:cNvPr id="4" name="TextBox 3"/>
          <p:cNvSpPr txBox="1"/>
          <p:nvPr/>
        </p:nvSpPr>
        <p:spPr>
          <a:xfrm>
            <a:off x="640080" y="3520440"/>
            <a:ext cx="10424160" cy="1463040"/>
          </a:xfrm>
          <a:prstGeom prst="rect">
            <a:avLst/>
          </a:prstGeom>
          <a:noFill/>
        </p:spPr>
        <p:txBody>
          <a:bodyPr wrap="square">
            <a:spAutoFit/>
          </a:bodyPr>
          <a:lstStyle/>
          <a:p>
            <a:pPr>
              <a:spcAft>
                <a:spcPts val="1000"/>
              </a:spcAft>
            </a:pPr>
            <a:r>
              <a:rPr sz="2400" b="0" i="1">
                <a:solidFill>
                  <a:srgbClr val="222B36"/>
                </a:solidFill>
              </a:rPr>
              <a:t>Prayer is not a performance for others or a speech to inform God, but a child talking honestly with a Father who already knows and cares.</a:t>
            </a:r>
          </a:p>
        </p:txBody>
      </p:sp>
      <p:sp>
        <p:nvSpPr>
          <p:cNvPr id="5" name="TextBox 4"/>
          <p:cNvSpPr txBox="1"/>
          <p:nvPr/>
        </p:nvSpPr>
        <p:spPr>
          <a:xfrm>
            <a:off x="640080" y="5394960"/>
            <a:ext cx="10881360" cy="457200"/>
          </a:xfrm>
          <a:prstGeom prst="rect">
            <a:avLst/>
          </a:prstGeom>
          <a:noFill/>
        </p:spPr>
        <p:txBody>
          <a:bodyPr wrap="square">
            <a:spAutoFit/>
          </a:bodyPr>
          <a:lstStyle/>
          <a:p>
            <a:pPr>
              <a:spcAft>
                <a:spcPts val="1000"/>
              </a:spcAft>
            </a:pPr>
            <a:r>
              <a:rPr sz="1600" b="0" i="0">
                <a:solidFill>
                  <a:srgbClr val="6B7280"/>
                </a:solidFill>
              </a:rPr>
              <a:t>Matthew 6:5-15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6:5-15 (1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5 </a:t>
            </a:r>
            <a:r>
              <a:rPr sz="2800" b="0" i="0">
                <a:solidFill>
                  <a:srgbClr val="222B36"/>
                </a:solidFill>
              </a:rPr>
              <a:t>And when thou prayest, thou shalt not be as the hypocrites are: for they love to pray standing in the synagogues and in the corners of the streets, that they may be seen of men. Verily I say unto you, They have their reward.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6:5-15 (2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6 </a:t>
            </a:r>
            <a:r>
              <a:rPr sz="2800" b="0" i="0">
                <a:solidFill>
                  <a:srgbClr val="222B36"/>
                </a:solidFill>
              </a:rPr>
              <a:t>But thou, when thou prayest, enter into thy closet, and when thou hast shut thy door, pray to thy Father which is in secret; and thy Father which seeth in secret shall reward thee openly. </a:t>
            </a:r>
            <a:r>
              <a:rPr sz="1600" b="1" i="0">
                <a:solidFill>
                  <a:srgbClr val="2E5E8C"/>
                </a:solidFill>
              </a:rPr>
              <a:t>7 </a:t>
            </a:r>
            <a:r>
              <a:rPr sz="2800" b="0" i="0">
                <a:solidFill>
                  <a:srgbClr val="222B36"/>
                </a:solidFill>
              </a:rPr>
              <a:t>But when ye pray, use not vain repetitions, as the heathen do: for they think that they shall be heard for their much speaking.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6:5-15 (3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8 </a:t>
            </a:r>
            <a:r>
              <a:rPr sz="2800" b="0" i="0">
                <a:solidFill>
                  <a:srgbClr val="222B36"/>
                </a:solidFill>
              </a:rPr>
              <a:t>Be not ye therefore like unto them: for your Father knoweth what things ye have need of, before ye ask him. </a:t>
            </a:r>
            <a:r>
              <a:rPr sz="1600" b="1" i="0">
                <a:solidFill>
                  <a:srgbClr val="2E5E8C"/>
                </a:solidFill>
              </a:rPr>
              <a:t>9 </a:t>
            </a:r>
            <a:r>
              <a:rPr sz="2800" b="0" i="0">
                <a:solidFill>
                  <a:srgbClr val="222B36"/>
                </a:solidFill>
              </a:rPr>
              <a:t>After this manner therefore pray ye: Our Father which art in heaven, Hallowed be thy name. </a:t>
            </a:r>
            <a:r>
              <a:rPr sz="1600" b="1" i="0">
                <a:solidFill>
                  <a:srgbClr val="2E5E8C"/>
                </a:solidFill>
              </a:rPr>
              <a:t>10 </a:t>
            </a:r>
            <a:r>
              <a:rPr sz="2800" b="0" i="0">
                <a:solidFill>
                  <a:srgbClr val="222B36"/>
                </a:solidFill>
              </a:rPr>
              <a:t>Thy kingdom come. Thy will be done in earth, as it is in heaven. </a:t>
            </a:r>
            <a:r>
              <a:rPr sz="1600" b="1" i="0">
                <a:solidFill>
                  <a:srgbClr val="2E5E8C"/>
                </a:solidFill>
              </a:rPr>
              <a:t>11 </a:t>
            </a:r>
            <a:r>
              <a:rPr sz="2800" b="0" i="0">
                <a:solidFill>
                  <a:srgbClr val="222B36"/>
                </a:solidFill>
              </a:rPr>
              <a:t>Give us this day our daily bread. </a:t>
            </a:r>
            <a:r>
              <a:rPr sz="1600" b="1" i="0">
                <a:solidFill>
                  <a:srgbClr val="2E5E8C"/>
                </a:solidFill>
              </a:rPr>
              <a:t>12 </a:t>
            </a:r>
            <a:r>
              <a:rPr sz="2800" b="0" i="0">
                <a:solidFill>
                  <a:srgbClr val="222B36"/>
                </a:solidFill>
              </a:rPr>
              <a:t>And forgive us our debts, as we forgive our debtors.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Matthew 6:5-15 (4 of 4)</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   ·   KJV</a:t>
            </a:r>
          </a:p>
        </p:txBody>
      </p:sp>
      <p:sp>
        <p:nvSpPr>
          <p:cNvPr id="5" name="TextBox 4"/>
          <p:cNvSpPr txBox="1"/>
          <p:nvPr/>
        </p:nvSpPr>
        <p:spPr>
          <a:xfrm>
            <a:off x="640080" y="1325880"/>
            <a:ext cx="10881360" cy="4846320"/>
          </a:xfrm>
          <a:prstGeom prst="rect">
            <a:avLst/>
          </a:prstGeom>
          <a:noFill/>
        </p:spPr>
        <p:txBody>
          <a:bodyPr wrap="square">
            <a:spAutoFit/>
          </a:bodyPr>
          <a:lstStyle/>
          <a:p>
            <a:pPr>
              <a:spcAft>
                <a:spcPts val="1000"/>
              </a:spcAft>
            </a:pPr>
            <a:r>
              <a:rPr sz="1600" b="1" i="0">
                <a:solidFill>
                  <a:srgbClr val="2E5E8C"/>
                </a:solidFill>
              </a:rPr>
              <a:t>13 </a:t>
            </a:r>
            <a:r>
              <a:rPr sz="2800" b="0" i="0">
                <a:solidFill>
                  <a:srgbClr val="222B36"/>
                </a:solidFill>
              </a:rPr>
              <a:t>And lead us not into temptation, but deliver us from evil: For thine is the kingdom, and the power, and the glory, for ever. Amen. </a:t>
            </a:r>
            <a:r>
              <a:rPr sz="1600" b="1" i="0">
                <a:solidFill>
                  <a:srgbClr val="2E5E8C"/>
                </a:solidFill>
              </a:rPr>
              <a:t>14 </a:t>
            </a:r>
            <a:r>
              <a:rPr sz="2800" b="0" i="0">
                <a:solidFill>
                  <a:srgbClr val="222B36"/>
                </a:solidFill>
              </a:rPr>
              <a:t>For if ye forgive men their trespasses, your heavenly Father will also forgive you: </a:t>
            </a:r>
            <a:r>
              <a:rPr sz="1600" b="1" i="0">
                <a:solidFill>
                  <a:srgbClr val="2E5E8C"/>
                </a:solidFill>
              </a:rPr>
              <a:t>15 </a:t>
            </a:r>
            <a:r>
              <a:rPr sz="2800" b="0" i="0">
                <a:solidFill>
                  <a:srgbClr val="222B36"/>
                </a:solidFill>
              </a:rPr>
              <a:t>But if ye forgive not men their trespasses, neither will your Father forgive your trespasses.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1. Pray to your Father, not to an audience</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hypocrites prayed to be seen of men.</a:t>
            </a:r>
          </a:p>
          <a:p>
            <a:pPr>
              <a:spcAft>
                <a:spcPts val="1800"/>
              </a:spcAft>
            </a:pPr>
            <a:r>
              <a:rPr sz="3000" b="1" i="0">
                <a:solidFill>
                  <a:srgbClr val="2E5E8C"/>
                </a:solidFill>
              </a:rPr>
              <a:t>•  </a:t>
            </a:r>
            <a:r>
              <a:rPr sz="3000" b="0" i="0">
                <a:solidFill>
                  <a:srgbClr val="222B36"/>
                </a:solidFill>
              </a:rPr>
              <a:t>Jesus says to pray to your Father which is in secret.</a:t>
            </a:r>
          </a:p>
          <a:p>
            <a:pPr>
              <a:spcAft>
                <a:spcPts val="1000"/>
              </a:spcAft>
            </a:pPr>
            <a:r>
              <a:rPr sz="2000" b="0" i="1">
                <a:solidFill>
                  <a:srgbClr val="6B7280"/>
                </a:solidFill>
              </a:rPr>
              <a:t>Read: Matthew 6:5-6; Mark 1:35; Psalm 62:8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2. Pray simply, trusting a Father who knows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God does not need many words, because he already knows what we need.</a:t>
            </a:r>
          </a:p>
          <a:p>
            <a:pPr>
              <a:spcAft>
                <a:spcPts val="1800"/>
              </a:spcAft>
            </a:pPr>
            <a:r>
              <a:rPr sz="3000" b="1" i="0">
                <a:solidFill>
                  <a:srgbClr val="2E5E8C"/>
                </a:solidFill>
              </a:rPr>
              <a:t>•  </a:t>
            </a:r>
            <a:r>
              <a:rPr sz="3000" b="0" i="0">
                <a:solidFill>
                  <a:srgbClr val="222B36"/>
                </a:solidFill>
              </a:rPr>
              <a:t>Prayer is not to inform God but to change our hearts.</a:t>
            </a:r>
          </a:p>
          <a:p>
            <a:pPr>
              <a:spcAft>
                <a:spcPts val="1000"/>
              </a:spcAft>
            </a:pPr>
            <a:r>
              <a:rPr sz="2000" b="0" i="1">
                <a:solidFill>
                  <a:srgbClr val="6B7280"/>
                </a:solidFill>
              </a:rPr>
              <a:t>Read: Matthew 6:7-8; Luke 11:11-13; Philippians 4:6-7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3. Pray the pattern Jesus gave: God first, then our needs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3000" b="1" i="0">
                <a:solidFill>
                  <a:srgbClr val="2E5E8C"/>
                </a:solidFill>
              </a:rPr>
              <a:t>•  </a:t>
            </a:r>
            <a:r>
              <a:rPr sz="3000" b="0" i="0">
                <a:solidFill>
                  <a:srgbClr val="222B36"/>
                </a:solidFill>
              </a:rPr>
              <a:t>The Lord's Prayer begins with God's name, kingdom, and will.</a:t>
            </a:r>
          </a:p>
          <a:p>
            <a:pPr>
              <a:spcAft>
                <a:spcPts val="1800"/>
              </a:spcAft>
            </a:pPr>
            <a:r>
              <a:rPr sz="3000" b="1" i="0">
                <a:solidFill>
                  <a:srgbClr val="2E5E8C"/>
                </a:solidFill>
              </a:rPr>
              <a:t>•  </a:t>
            </a:r>
            <a:r>
              <a:rPr sz="3000" b="0" i="0">
                <a:solidFill>
                  <a:srgbClr val="222B36"/>
                </a:solidFill>
              </a:rPr>
              <a:t>Asking for daily bread reminds us that we depend on God every day.</a:t>
            </a:r>
          </a:p>
          <a:p>
            <a:pPr>
              <a:spcAft>
                <a:spcPts val="1000"/>
              </a:spcAft>
            </a:pPr>
            <a:r>
              <a:rPr sz="2000" b="0" i="1">
                <a:solidFill>
                  <a:srgbClr val="6B7280"/>
                </a:solidFill>
              </a:rPr>
              <a:t>Read: Matthew 6:9-13; Luke 11:1-4; 1 John 5:14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1.  </a:t>
            </a:r>
            <a:r>
              <a:rPr sz="2800" b="0" i="0">
                <a:solidFill>
                  <a:srgbClr val="222B36"/>
                </a:solidFill>
              </a:rPr>
              <a:t>Why is praying "to be seen" so tempting, even in church?</a:t>
            </a:r>
          </a:p>
          <a:p>
            <a:pPr>
              <a:spcAft>
                <a:spcPts val="1800"/>
              </a:spcAft>
            </a:pPr>
            <a:r>
              <a:rPr sz="2800" b="1" i="0">
                <a:solidFill>
                  <a:srgbClr val="2E5E8C"/>
                </a:solidFill>
              </a:rPr>
              <a:t>2.  </a:t>
            </a:r>
            <a:r>
              <a:rPr sz="2800" b="0" i="0">
                <a:solidFill>
                  <a:srgbClr val="222B36"/>
                </a:solidFill>
              </a:rPr>
              <a:t>If God already knows what we need, why pray at all?</a:t>
            </a:r>
          </a:p>
          <a:p>
            <a:pPr>
              <a:spcAft>
                <a:spcPts val="1800"/>
              </a:spcAft>
            </a:pPr>
            <a:r>
              <a:rPr sz="2800" b="1" i="0">
                <a:solidFill>
                  <a:srgbClr val="2E5E8C"/>
                </a:solidFill>
              </a:rPr>
              <a:t>3.  </a:t>
            </a:r>
            <a:r>
              <a:rPr sz="2800" b="0" i="0">
                <a:solidFill>
                  <a:srgbClr val="222B36"/>
                </a:solidFill>
              </a:rPr>
              <a:t>Which part of the Lord's Prayer do you find easiest to pray, and which hardest?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
          </a:xfrm>
          <a:prstGeom prst="rect">
            <a:avLst/>
          </a:prstGeom>
          <a:solidFill>
            <a:srgbClr val="2E5E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11480"/>
            <a:ext cx="10881360" cy="914400"/>
          </a:xfrm>
          <a:prstGeom prst="rect">
            <a:avLst/>
          </a:prstGeom>
          <a:noFill/>
        </p:spPr>
        <p:txBody>
          <a:bodyPr wrap="square">
            <a:spAutoFit/>
          </a:bodyPr>
          <a:lstStyle/>
          <a:p>
            <a:pPr>
              <a:spcAft>
                <a:spcPts val="1000"/>
              </a:spcAft>
            </a:pPr>
            <a:r>
              <a:rPr sz="3200" b="1" i="0">
                <a:solidFill>
                  <a:srgbClr val="222B36"/>
                </a:solidFill>
              </a:rPr>
              <a:t>Discuss (continued)</a:t>
            </a:r>
          </a:p>
        </p:txBody>
      </p:sp>
      <p:sp>
        <p:nvSpPr>
          <p:cNvPr id="4" name="TextBox 3"/>
          <p:cNvSpPr txBox="1"/>
          <p:nvPr/>
        </p:nvSpPr>
        <p:spPr>
          <a:xfrm>
            <a:off x="640080" y="6263640"/>
            <a:ext cx="10881360" cy="365760"/>
          </a:xfrm>
          <a:prstGeom prst="rect">
            <a:avLst/>
          </a:prstGeom>
          <a:noFill/>
        </p:spPr>
        <p:txBody>
          <a:bodyPr wrap="square">
            <a:spAutoFit/>
          </a:bodyPr>
          <a:lstStyle/>
          <a:p>
            <a:pPr>
              <a:spcAft>
                <a:spcPts val="1000"/>
              </a:spcAft>
            </a:pPr>
            <a:r>
              <a:rPr sz="1200" b="0" i="0">
                <a:solidFill>
                  <a:srgbClr val="6B7280"/>
                </a:solidFill>
              </a:rPr>
              <a:t>Teach Us to Pray</a:t>
            </a:r>
          </a:p>
        </p:txBody>
      </p:sp>
      <p:sp>
        <p:nvSpPr>
          <p:cNvPr id="5" name="TextBox 4"/>
          <p:cNvSpPr txBox="1"/>
          <p:nvPr/>
        </p:nvSpPr>
        <p:spPr>
          <a:xfrm>
            <a:off x="640080" y="1554480"/>
            <a:ext cx="10881360" cy="4572000"/>
          </a:xfrm>
          <a:prstGeom prst="rect">
            <a:avLst/>
          </a:prstGeom>
          <a:noFill/>
        </p:spPr>
        <p:txBody>
          <a:bodyPr wrap="square">
            <a:spAutoFit/>
          </a:bodyPr>
          <a:lstStyle/>
          <a:p>
            <a:pPr>
              <a:spcAft>
                <a:spcPts val="1800"/>
              </a:spcAft>
            </a:pPr>
            <a:r>
              <a:rPr sz="2800" b="1" i="0">
                <a:solidFill>
                  <a:srgbClr val="2E5E8C"/>
                </a:solidFill>
              </a:rPr>
              <a:t>4.  </a:t>
            </a:r>
            <a:r>
              <a:rPr sz="2800" b="0" i="0">
                <a:solidFill>
                  <a:srgbClr val="222B36"/>
                </a:solidFill>
              </a:rPr>
              <a:t>How could the order of the Lord's Prayer (God first, then our needs) change your own prayers this week?</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