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3"/>
    <p:sldId id="262" r:id="rId14"/>
    <p:sldId id="263" r:id="rId15"/>
    <p:sldId id="264" r:id="rId1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notesMaster" Target="notesMasters/notesMaster1.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Paul begins with a test: "no man can say that Jesus is the Lord, but by the Holy Ghost" (v. 3). The Spirit's first and greatest work is to bring people to honour Jesus. Any claimed spiritual experience that does not exalt Christ is not from the Holy Spirit.</a:t>
            </a:r>
          </a:p>
          <a:p/>
          <a:p>
            <a:r>
              <a:t>“The design of the passage is to give them some simple general guide by which they could at once recognize the operations of the Spirit of God” — Albert Barnes, Notes on the New Testament, on 1 Corinthians 12:3</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"There are diversities of gifts, but the same Spirit" (v. 4). Every believer is given some "manifestation of the Spirit ... to profit withal," that is, for the common good (v. 7). Gifts are not trophies to display but tools to serve others. No one has every gift, and no one has none.</a:t>
            </a:r>
          </a:p>
          <a:p/>
          <a:p>
            <a:r>
              <a:t>“Whatever gifts God has bestowed, or in what various ways soever the Spirit of God may have manifested himself, it is all for the common benefit of the Church.” — Adam Clarke, Commentary on the Bible, on 1 Corinthians 12:7</a:t>
            </a:r>
          </a:p>
          <a:p/>
          <a:p>
            <a:r>
              <a:t>“Gifts and graces, charismata and charis, greatly differ.” — Matthew Henry, Commentary on the Whole Bible, on 1 Corinthians 12:1-11</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Lutherans teach that the Holy Spirit is given through the means God has appointed: the preaching of the Word and the Sacraments. Through these he creates faith and keeps us in it (Romans 10:17). Luther warned against "enthusiasts" who claimed that the Spirit spoke to them directly, apart from or above Scripture. Extraordinary gifts are not denied as impossible, but they are not expected as the normal Christian life, they are not signs of a higher class of Christians, and they must never be set beside or above the Word. God gives all believers gifts to serve their neighbours in their callings. Christians pray for the sick and trust God's good will. Since the 1960s a charismatic movement has existed among some Lutherans, but this is not the church's historic teaching.</a:t>
            </a:r>
          </a:p>
          <a:p/>
          <a:p>
            <a:r>
              <a:t>“For through the Word and Sacraments, as through instruments, the Holy Ghost is given, who works faith” — Philip Melanchthon, The Augsburg Confession, “Article V: Of the Ministry”</a:t>
            </a:r>
          </a:p>
          <a:p/>
          <a:p>
            <a:r>
              <a:t>“It is through the Word of God and the Sacraments that the Holy Spirit does His work in us.” — Joseph Stump, An Explanation of Luther's Small Catechism, “Chapter XXXIII: The Means of Grace”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640080" y="3246120"/>
            <a:ext cx="1463040" cy="73152"/>
          </a:xfrm>
          <a:prstGeom prst="rect">
            <a:avLst/>
          </a:prstGeom>
          <a:solidFill>
            <a:srgbClr val="2E5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1463040"/>
            <a:ext cx="10881360" cy="1737360"/>
          </a:xfrm>
          <a:prstGeom prst="rect">
            <a:avLst/>
          </a:prstGeom>
          <a:noFill/>
        </p:spPr>
        <p:txBody>
          <a:bodyPr wrap="square">
            <a:spAutoFit/>
          </a:bodyPr>
          <a:lstStyle/>
          <a:p>
            <a:pPr>
              <a:spcAft>
                <a:spcPts val="1000"/>
              </a:spcAft>
            </a:pPr>
            <a:r>
              <a:rPr sz="4400" b="1" i="0">
                <a:solidFill>
                  <a:srgbClr val="222B36"/>
                </a:solidFill>
              </a:rPr>
              <a:t>Gifts of the Spirit</a:t>
            </a:r>
          </a:p>
        </p:txBody>
      </p:sp>
      <p:sp>
        <p:nvSpPr>
          <p:cNvPr id="4" name="TextBox 3"/>
          <p:cNvSpPr txBox="1"/>
          <p:nvPr/>
        </p:nvSpPr>
        <p:spPr>
          <a:xfrm>
            <a:off x="640080" y="3520440"/>
            <a:ext cx="10424160" cy="1463040"/>
          </a:xfrm>
          <a:prstGeom prst="rect">
            <a:avLst/>
          </a:prstGeom>
          <a:noFill/>
        </p:spPr>
        <p:txBody>
          <a:bodyPr wrap="square">
            <a:spAutoFit/>
          </a:bodyPr>
          <a:lstStyle/>
          <a:p>
            <a:pPr>
              <a:spcAft>
                <a:spcPts val="1000"/>
              </a:spcAft>
            </a:pPr>
            <a:r>
              <a:rPr sz="2400" b="0" i="1">
                <a:solidFill>
                  <a:srgbClr val="222B36"/>
                </a:solidFill>
              </a:rPr>
              <a:t>The one Spirit gives every believer gifts for the common good; Lutherans teach that the Spirit works chiefly through the Word and Sacraments, and test every claimed experience by the Word.</a:t>
            </a:r>
          </a:p>
        </p:txBody>
      </p:sp>
      <p:sp>
        <p:nvSpPr>
          <p:cNvPr id="5" name="TextBox 4"/>
          <p:cNvSpPr txBox="1"/>
          <p:nvPr/>
        </p:nvSpPr>
        <p:spPr>
          <a:xfrm>
            <a:off x="640080" y="5394960"/>
            <a:ext cx="10881360" cy="457200"/>
          </a:xfrm>
          <a:prstGeom prst="rect">
            <a:avLst/>
          </a:prstGeom>
          <a:noFill/>
        </p:spPr>
        <p:txBody>
          <a:bodyPr wrap="square">
            <a:spAutoFit/>
          </a:bodyPr>
          <a:lstStyle/>
          <a:p>
            <a:pPr>
              <a:spcAft>
                <a:spcPts val="1000"/>
              </a:spcAft>
            </a:pPr>
            <a:r>
              <a:rPr sz="1600" b="0" i="0">
                <a:solidFill>
                  <a:srgbClr val="6B7280"/>
                </a:solidFill>
              </a:rPr>
              <a:t>1 Corinthians 12:1-11   ·   Lutheran version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2E5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11480"/>
            <a:ext cx="10881360" cy="914400"/>
          </a:xfrm>
          <a:prstGeom prst="rect">
            <a:avLst/>
          </a:prstGeom>
          <a:noFill/>
        </p:spPr>
        <p:txBody>
          <a:bodyPr wrap="square">
            <a:spAutoFit/>
          </a:bodyPr>
          <a:lstStyle/>
          <a:p>
            <a:pPr>
              <a:spcAft>
                <a:spcPts val="1000"/>
              </a:spcAft>
            </a:pPr>
            <a:r>
              <a:rPr sz="3200" b="1" i="0">
                <a:solidFill>
                  <a:srgbClr val="222B36"/>
                </a:solidFill>
              </a:rPr>
              <a:t>1 Corinthians 12:1-11 (1 of 3)</a:t>
            </a:r>
          </a:p>
        </p:txBody>
      </p:sp>
      <p:sp>
        <p:nvSpPr>
          <p:cNvPr id="4" name="TextBox 3"/>
          <p:cNvSpPr txBox="1"/>
          <p:nvPr/>
        </p:nvSpPr>
        <p:spPr>
          <a:xfrm>
            <a:off x="640080" y="6263640"/>
            <a:ext cx="10881360" cy="365760"/>
          </a:xfrm>
          <a:prstGeom prst="rect">
            <a:avLst/>
          </a:prstGeom>
          <a:noFill/>
        </p:spPr>
        <p:txBody>
          <a:bodyPr wrap="square">
            <a:spAutoFit/>
          </a:bodyPr>
          <a:lstStyle/>
          <a:p>
            <a:pPr>
              <a:spcAft>
                <a:spcPts val="1000"/>
              </a:spcAft>
            </a:pPr>
            <a:r>
              <a:rPr sz="1200" b="0" i="0">
                <a:solidFill>
                  <a:srgbClr val="6B7280"/>
                </a:solidFill>
              </a:rPr>
              <a:t>Gifts of the Spirit   ·   KJV</a:t>
            </a:r>
          </a:p>
        </p:txBody>
      </p:sp>
      <p:sp>
        <p:nvSpPr>
          <p:cNvPr id="5" name="TextBox 4"/>
          <p:cNvSpPr txBox="1"/>
          <p:nvPr/>
        </p:nvSpPr>
        <p:spPr>
          <a:xfrm>
            <a:off x="640080" y="1325880"/>
            <a:ext cx="10881360" cy="4846320"/>
          </a:xfrm>
          <a:prstGeom prst="rect">
            <a:avLst/>
          </a:prstGeom>
          <a:noFill/>
        </p:spPr>
        <p:txBody>
          <a:bodyPr wrap="square">
            <a:spAutoFit/>
          </a:bodyPr>
          <a:lstStyle/>
          <a:p>
            <a:pPr>
              <a:spcAft>
                <a:spcPts val="1000"/>
              </a:spcAft>
            </a:pPr>
            <a:r>
              <a:rPr sz="1600" b="1" i="0">
                <a:solidFill>
                  <a:srgbClr val="2E5E8C"/>
                </a:solidFill>
              </a:rPr>
              <a:t>1 </a:t>
            </a:r>
            <a:r>
              <a:rPr sz="2800" b="0" i="0">
                <a:solidFill>
                  <a:srgbClr val="222B36"/>
                </a:solidFill>
              </a:rPr>
              <a:t>Now concerning spiritual gifts, brethren, I would not have you ignorant. </a:t>
            </a:r>
            <a:r>
              <a:rPr sz="1600" b="1" i="0">
                <a:solidFill>
                  <a:srgbClr val="2E5E8C"/>
                </a:solidFill>
              </a:rPr>
              <a:t>2 </a:t>
            </a:r>
            <a:r>
              <a:rPr sz="2800" b="0" i="0">
                <a:solidFill>
                  <a:srgbClr val="222B36"/>
                </a:solidFill>
              </a:rPr>
              <a:t>Ye know that ye were Gentiles, carried away unto these dumb idols, even as ye were led. </a:t>
            </a:r>
            <a:r>
              <a:rPr sz="1600" b="1" i="0">
                <a:solidFill>
                  <a:srgbClr val="2E5E8C"/>
                </a:solidFill>
              </a:rPr>
              <a:t>3 </a:t>
            </a:r>
            <a:r>
              <a:rPr sz="2800" b="0" i="0">
                <a:solidFill>
                  <a:srgbClr val="222B36"/>
                </a:solidFill>
              </a:rPr>
              <a:t>Wherefore I give you to understand, that no man speaking by the Spirit of God calleth Jesus accursed: and that no man can say that Jesus is the Lord, but by the Holy Ghost. </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2E5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11480"/>
            <a:ext cx="10881360" cy="914400"/>
          </a:xfrm>
          <a:prstGeom prst="rect">
            <a:avLst/>
          </a:prstGeom>
          <a:noFill/>
        </p:spPr>
        <p:txBody>
          <a:bodyPr wrap="square">
            <a:spAutoFit/>
          </a:bodyPr>
          <a:lstStyle/>
          <a:p>
            <a:pPr>
              <a:spcAft>
                <a:spcPts val="1000"/>
              </a:spcAft>
            </a:pPr>
            <a:r>
              <a:rPr sz="3200" b="1" i="0">
                <a:solidFill>
                  <a:srgbClr val="222B36"/>
                </a:solidFill>
              </a:rPr>
              <a:t>1 Corinthians 12:1-11 (2 of 3)</a:t>
            </a:r>
          </a:p>
        </p:txBody>
      </p:sp>
      <p:sp>
        <p:nvSpPr>
          <p:cNvPr id="4" name="TextBox 3"/>
          <p:cNvSpPr txBox="1"/>
          <p:nvPr/>
        </p:nvSpPr>
        <p:spPr>
          <a:xfrm>
            <a:off x="640080" y="6263640"/>
            <a:ext cx="10881360" cy="365760"/>
          </a:xfrm>
          <a:prstGeom prst="rect">
            <a:avLst/>
          </a:prstGeom>
          <a:noFill/>
        </p:spPr>
        <p:txBody>
          <a:bodyPr wrap="square">
            <a:spAutoFit/>
          </a:bodyPr>
          <a:lstStyle/>
          <a:p>
            <a:pPr>
              <a:spcAft>
                <a:spcPts val="1000"/>
              </a:spcAft>
            </a:pPr>
            <a:r>
              <a:rPr sz="1200" b="0" i="0">
                <a:solidFill>
                  <a:srgbClr val="6B7280"/>
                </a:solidFill>
              </a:rPr>
              <a:t>Gifts of the Spirit   ·   KJV</a:t>
            </a:r>
          </a:p>
        </p:txBody>
      </p:sp>
      <p:sp>
        <p:nvSpPr>
          <p:cNvPr id="5" name="TextBox 4"/>
          <p:cNvSpPr txBox="1"/>
          <p:nvPr/>
        </p:nvSpPr>
        <p:spPr>
          <a:xfrm>
            <a:off x="640080" y="1325880"/>
            <a:ext cx="10881360" cy="4846320"/>
          </a:xfrm>
          <a:prstGeom prst="rect">
            <a:avLst/>
          </a:prstGeom>
          <a:noFill/>
        </p:spPr>
        <p:txBody>
          <a:bodyPr wrap="square">
            <a:spAutoFit/>
          </a:bodyPr>
          <a:lstStyle/>
          <a:p>
            <a:pPr>
              <a:spcAft>
                <a:spcPts val="1000"/>
              </a:spcAft>
            </a:pPr>
            <a:r>
              <a:rPr sz="1600" b="1" i="0">
                <a:solidFill>
                  <a:srgbClr val="2E5E8C"/>
                </a:solidFill>
              </a:rPr>
              <a:t>4 </a:t>
            </a:r>
            <a:r>
              <a:rPr sz="2800" b="0" i="0">
                <a:solidFill>
                  <a:srgbClr val="222B36"/>
                </a:solidFill>
              </a:rPr>
              <a:t>Now there are diversities of gifts, but the same Spirit. </a:t>
            </a:r>
            <a:r>
              <a:rPr sz="1600" b="1" i="0">
                <a:solidFill>
                  <a:srgbClr val="2E5E8C"/>
                </a:solidFill>
              </a:rPr>
              <a:t>5 </a:t>
            </a:r>
            <a:r>
              <a:rPr sz="2800" b="0" i="0">
                <a:solidFill>
                  <a:srgbClr val="222B36"/>
                </a:solidFill>
              </a:rPr>
              <a:t>And there are differences of administrations, but the same Lord. </a:t>
            </a:r>
            <a:r>
              <a:rPr sz="1600" b="1" i="0">
                <a:solidFill>
                  <a:srgbClr val="2E5E8C"/>
                </a:solidFill>
              </a:rPr>
              <a:t>6 </a:t>
            </a:r>
            <a:r>
              <a:rPr sz="2800" b="0" i="0">
                <a:solidFill>
                  <a:srgbClr val="222B36"/>
                </a:solidFill>
              </a:rPr>
              <a:t>And there are diversities of operations, but it is the same God which worketh all in all. </a:t>
            </a:r>
            <a:r>
              <a:rPr sz="1600" b="1" i="0">
                <a:solidFill>
                  <a:srgbClr val="2E5E8C"/>
                </a:solidFill>
              </a:rPr>
              <a:t>7 </a:t>
            </a:r>
            <a:r>
              <a:rPr sz="2800" b="0" i="0">
                <a:solidFill>
                  <a:srgbClr val="222B36"/>
                </a:solidFill>
              </a:rPr>
              <a:t>But the manifestation of the Spirit is given to every man to profit withal. </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2E5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11480"/>
            <a:ext cx="10881360" cy="914400"/>
          </a:xfrm>
          <a:prstGeom prst="rect">
            <a:avLst/>
          </a:prstGeom>
          <a:noFill/>
        </p:spPr>
        <p:txBody>
          <a:bodyPr wrap="square">
            <a:spAutoFit/>
          </a:bodyPr>
          <a:lstStyle/>
          <a:p>
            <a:pPr>
              <a:spcAft>
                <a:spcPts val="1000"/>
              </a:spcAft>
            </a:pPr>
            <a:r>
              <a:rPr sz="3200" b="1" i="0">
                <a:solidFill>
                  <a:srgbClr val="222B36"/>
                </a:solidFill>
              </a:rPr>
              <a:t>1 Corinthians 12:1-11 (3 of 3)</a:t>
            </a:r>
          </a:p>
        </p:txBody>
      </p:sp>
      <p:sp>
        <p:nvSpPr>
          <p:cNvPr id="4" name="TextBox 3"/>
          <p:cNvSpPr txBox="1"/>
          <p:nvPr/>
        </p:nvSpPr>
        <p:spPr>
          <a:xfrm>
            <a:off x="640080" y="6263640"/>
            <a:ext cx="10881360" cy="365760"/>
          </a:xfrm>
          <a:prstGeom prst="rect">
            <a:avLst/>
          </a:prstGeom>
          <a:noFill/>
        </p:spPr>
        <p:txBody>
          <a:bodyPr wrap="square">
            <a:spAutoFit/>
          </a:bodyPr>
          <a:lstStyle/>
          <a:p>
            <a:pPr>
              <a:spcAft>
                <a:spcPts val="1000"/>
              </a:spcAft>
            </a:pPr>
            <a:r>
              <a:rPr sz="1200" b="0" i="0">
                <a:solidFill>
                  <a:srgbClr val="6B7280"/>
                </a:solidFill>
              </a:rPr>
              <a:t>Gifts of the Spirit   ·   KJV</a:t>
            </a:r>
          </a:p>
        </p:txBody>
      </p:sp>
      <p:sp>
        <p:nvSpPr>
          <p:cNvPr id="5" name="TextBox 4"/>
          <p:cNvSpPr txBox="1"/>
          <p:nvPr/>
        </p:nvSpPr>
        <p:spPr>
          <a:xfrm>
            <a:off x="640080" y="1325880"/>
            <a:ext cx="10881360" cy="4846320"/>
          </a:xfrm>
          <a:prstGeom prst="rect">
            <a:avLst/>
          </a:prstGeom>
          <a:noFill/>
        </p:spPr>
        <p:txBody>
          <a:bodyPr wrap="square">
            <a:spAutoFit/>
          </a:bodyPr>
          <a:lstStyle/>
          <a:p>
            <a:pPr>
              <a:spcAft>
                <a:spcPts val="1000"/>
              </a:spcAft>
            </a:pPr>
            <a:r>
              <a:rPr sz="1600" b="1" i="0">
                <a:solidFill>
                  <a:srgbClr val="2E5E8C"/>
                </a:solidFill>
              </a:rPr>
              <a:t>8 </a:t>
            </a:r>
            <a:r>
              <a:rPr sz="2800" b="0" i="0">
                <a:solidFill>
                  <a:srgbClr val="222B36"/>
                </a:solidFill>
              </a:rPr>
              <a:t>For to one is given by the Spirit the word of wisdom; to another the word of knowledge by the same Spirit; </a:t>
            </a:r>
            <a:r>
              <a:rPr sz="1600" b="1" i="0">
                <a:solidFill>
                  <a:srgbClr val="2E5E8C"/>
                </a:solidFill>
              </a:rPr>
              <a:t>9 </a:t>
            </a:r>
            <a:r>
              <a:rPr sz="2800" b="0" i="0">
                <a:solidFill>
                  <a:srgbClr val="222B36"/>
                </a:solidFill>
              </a:rPr>
              <a:t>To another faith by the same Spirit; to another the gifts of healing by the same Spirit; </a:t>
            </a:r>
            <a:r>
              <a:rPr sz="1600" b="1" i="0">
                <a:solidFill>
                  <a:srgbClr val="2E5E8C"/>
                </a:solidFill>
              </a:rPr>
              <a:t>10 </a:t>
            </a:r>
            <a:r>
              <a:rPr sz="2800" b="0" i="0">
                <a:solidFill>
                  <a:srgbClr val="222B36"/>
                </a:solidFill>
              </a:rPr>
              <a:t>To another the working of miracles; to another prophecy; to another discerning of spirits; to another divers kinds of tongues; to another the interpretation of tongues: </a:t>
            </a:r>
            <a:r>
              <a:rPr sz="1600" b="1" i="0">
                <a:solidFill>
                  <a:srgbClr val="2E5E8C"/>
                </a:solidFill>
              </a:rPr>
              <a:t>11 </a:t>
            </a:r>
            <a:r>
              <a:rPr sz="2800" b="0" i="0">
                <a:solidFill>
                  <a:srgbClr val="222B36"/>
                </a:solidFill>
              </a:rPr>
              <a:t>But all these worketh that one and the selfsame Spirit, dividing to every man severally as he will. </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2E5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11480"/>
            <a:ext cx="10881360" cy="914400"/>
          </a:xfrm>
          <a:prstGeom prst="rect">
            <a:avLst/>
          </a:prstGeom>
          <a:noFill/>
        </p:spPr>
        <p:txBody>
          <a:bodyPr wrap="square">
            <a:spAutoFit/>
          </a:bodyPr>
          <a:lstStyle/>
          <a:p>
            <a:pPr>
              <a:spcAft>
                <a:spcPts val="1000"/>
              </a:spcAft>
            </a:pPr>
            <a:r>
              <a:rPr sz="3200" b="1" i="0">
                <a:solidFill>
                  <a:srgbClr val="222B36"/>
                </a:solidFill>
              </a:rPr>
              <a:t>1. The Spirit leads us to confess Jesus as Lord</a:t>
            </a:r>
          </a:p>
        </p:txBody>
      </p:sp>
      <p:sp>
        <p:nvSpPr>
          <p:cNvPr id="4" name="TextBox 3"/>
          <p:cNvSpPr txBox="1"/>
          <p:nvPr/>
        </p:nvSpPr>
        <p:spPr>
          <a:xfrm>
            <a:off x="640080" y="6263640"/>
            <a:ext cx="10881360" cy="365760"/>
          </a:xfrm>
          <a:prstGeom prst="rect">
            <a:avLst/>
          </a:prstGeom>
          <a:noFill/>
        </p:spPr>
        <p:txBody>
          <a:bodyPr wrap="square">
            <a:spAutoFit/>
          </a:bodyPr>
          <a:lstStyle/>
          <a:p>
            <a:pPr>
              <a:spcAft>
                <a:spcPts val="1000"/>
              </a:spcAft>
            </a:pPr>
            <a:r>
              <a:rPr sz="1200" b="0" i="0">
                <a:solidFill>
                  <a:srgbClr val="6B7280"/>
                </a:solidFill>
              </a:rPr>
              <a:t>Gifts of the Spirit</a:t>
            </a:r>
          </a:p>
        </p:txBody>
      </p:sp>
      <p:sp>
        <p:nvSpPr>
          <p:cNvPr id="5" name="TextBox 4"/>
          <p:cNvSpPr txBox="1"/>
          <p:nvPr/>
        </p:nvSpPr>
        <p:spPr>
          <a:xfrm>
            <a:off x="640080" y="1554480"/>
            <a:ext cx="10881360" cy="4572000"/>
          </a:xfrm>
          <a:prstGeom prst="rect">
            <a:avLst/>
          </a:prstGeom>
          <a:noFill/>
        </p:spPr>
        <p:txBody>
          <a:bodyPr wrap="square">
            <a:spAutoFit/>
          </a:bodyPr>
          <a:lstStyle/>
          <a:p>
            <a:pPr>
              <a:spcAft>
                <a:spcPts val="1800"/>
              </a:spcAft>
            </a:pPr>
            <a:r>
              <a:rPr sz="3000" b="1" i="0">
                <a:solidFill>
                  <a:srgbClr val="2E5E8C"/>
                </a:solidFill>
              </a:rPr>
              <a:t>•  </a:t>
            </a:r>
            <a:r>
              <a:rPr sz="3000" b="0" i="0">
                <a:solidFill>
                  <a:srgbClr val="222B36"/>
                </a:solidFill>
              </a:rPr>
              <a:t>No man can say that Jesus is the Lord, but by the Holy Ghost (Spirit).</a:t>
            </a:r>
          </a:p>
          <a:p>
            <a:pPr>
              <a:spcAft>
                <a:spcPts val="1800"/>
              </a:spcAft>
            </a:pPr>
            <a:r>
              <a:rPr sz="3000" b="1" i="0">
                <a:solidFill>
                  <a:srgbClr val="2E5E8C"/>
                </a:solidFill>
              </a:rPr>
              <a:t>•  </a:t>
            </a:r>
            <a:r>
              <a:rPr sz="3000" b="0" i="0">
                <a:solidFill>
                  <a:srgbClr val="222B36"/>
                </a:solidFill>
              </a:rPr>
              <a:t>The Spirit's first work is to honour (glorify) Jesus.</a:t>
            </a:r>
          </a:p>
          <a:p>
            <a:pPr>
              <a:spcAft>
                <a:spcPts val="1000"/>
              </a:spcAft>
            </a:pPr>
            <a:r>
              <a:rPr sz="2000" b="0" i="1">
                <a:solidFill>
                  <a:srgbClr val="6B7280"/>
                </a:solidFill>
              </a:rPr>
              <a:t>Read: 1 Corinthians 12:1-3; John 16:13-14; 1 John 4:1-3</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2E5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11480"/>
            <a:ext cx="10881360" cy="914400"/>
          </a:xfrm>
          <a:prstGeom prst="rect">
            <a:avLst/>
          </a:prstGeom>
          <a:noFill/>
        </p:spPr>
        <p:txBody>
          <a:bodyPr wrap="square">
            <a:spAutoFit/>
          </a:bodyPr>
          <a:lstStyle/>
          <a:p>
            <a:pPr>
              <a:spcAft>
                <a:spcPts val="1000"/>
              </a:spcAft>
            </a:pPr>
            <a:r>
              <a:rPr sz="3200" b="1" i="0">
                <a:solidFill>
                  <a:srgbClr val="222B36"/>
                </a:solidFill>
              </a:rPr>
              <a:t>2. One Spirit, many gifts, for the common good</a:t>
            </a:r>
          </a:p>
        </p:txBody>
      </p:sp>
      <p:sp>
        <p:nvSpPr>
          <p:cNvPr id="4" name="TextBox 3"/>
          <p:cNvSpPr txBox="1"/>
          <p:nvPr/>
        </p:nvSpPr>
        <p:spPr>
          <a:xfrm>
            <a:off x="640080" y="6263640"/>
            <a:ext cx="10881360" cy="365760"/>
          </a:xfrm>
          <a:prstGeom prst="rect">
            <a:avLst/>
          </a:prstGeom>
          <a:noFill/>
        </p:spPr>
        <p:txBody>
          <a:bodyPr wrap="square">
            <a:spAutoFit/>
          </a:bodyPr>
          <a:lstStyle/>
          <a:p>
            <a:pPr>
              <a:spcAft>
                <a:spcPts val="1000"/>
              </a:spcAft>
            </a:pPr>
            <a:r>
              <a:rPr sz="1200" b="0" i="0">
                <a:solidFill>
                  <a:srgbClr val="6B7280"/>
                </a:solidFill>
              </a:rPr>
              <a:t>Gifts of the Spirit</a:t>
            </a:r>
          </a:p>
        </p:txBody>
      </p:sp>
      <p:sp>
        <p:nvSpPr>
          <p:cNvPr id="5" name="TextBox 4"/>
          <p:cNvSpPr txBox="1"/>
          <p:nvPr/>
        </p:nvSpPr>
        <p:spPr>
          <a:xfrm>
            <a:off x="640080" y="1554480"/>
            <a:ext cx="10881360" cy="4572000"/>
          </a:xfrm>
          <a:prstGeom prst="rect">
            <a:avLst/>
          </a:prstGeom>
          <a:noFill/>
        </p:spPr>
        <p:txBody>
          <a:bodyPr wrap="square">
            <a:spAutoFit/>
          </a:bodyPr>
          <a:lstStyle/>
          <a:p>
            <a:pPr>
              <a:spcAft>
                <a:spcPts val="1800"/>
              </a:spcAft>
            </a:pPr>
            <a:r>
              <a:rPr sz="3000" b="1" i="0">
                <a:solidFill>
                  <a:srgbClr val="2E5E8C"/>
                </a:solidFill>
              </a:rPr>
              <a:t>•  </a:t>
            </a:r>
            <a:r>
              <a:rPr sz="3000" b="0" i="0">
                <a:solidFill>
                  <a:srgbClr val="222B36"/>
                </a:solidFill>
              </a:rPr>
              <a:t>There are diversities of gifts, but the same Spirit.</a:t>
            </a:r>
          </a:p>
          <a:p>
            <a:pPr>
              <a:spcAft>
                <a:spcPts val="1800"/>
              </a:spcAft>
            </a:pPr>
            <a:r>
              <a:rPr sz="3000" b="1" i="0">
                <a:solidFill>
                  <a:srgbClr val="2E5E8C"/>
                </a:solidFill>
              </a:rPr>
              <a:t>•  </a:t>
            </a:r>
            <a:r>
              <a:rPr sz="3000" b="0" i="0">
                <a:solidFill>
                  <a:srgbClr val="222B36"/>
                </a:solidFill>
              </a:rPr>
              <a:t>Gifts are given for the common good.</a:t>
            </a:r>
          </a:p>
          <a:p>
            <a:pPr>
              <a:spcAft>
                <a:spcPts val="1000"/>
              </a:spcAft>
            </a:pPr>
            <a:r>
              <a:rPr sz="2000" b="0" i="1">
                <a:solidFill>
                  <a:srgbClr val="6B7280"/>
                </a:solidFill>
              </a:rPr>
              <a:t>Read: 1 Corinthians 12:4-7; Romans 12:4-8; 1 Peter 4:10-11</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2E5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11480"/>
            <a:ext cx="10881360" cy="914400"/>
          </a:xfrm>
          <a:prstGeom prst="rect">
            <a:avLst/>
          </a:prstGeom>
          <a:noFill/>
        </p:spPr>
        <p:txBody>
          <a:bodyPr wrap="square">
            <a:spAutoFit/>
          </a:bodyPr>
          <a:lstStyle/>
          <a:p>
            <a:pPr>
              <a:spcAft>
                <a:spcPts val="1000"/>
              </a:spcAft>
            </a:pPr>
            <a:r>
              <a:rPr sz="3200" b="1" i="0">
                <a:solidFill>
                  <a:srgbClr val="222B36"/>
                </a:solidFill>
              </a:rPr>
              <a:t>3. The Spirit comes through the Word and Sacraments</a:t>
            </a:r>
          </a:p>
        </p:txBody>
      </p:sp>
      <p:sp>
        <p:nvSpPr>
          <p:cNvPr id="4" name="TextBox 3"/>
          <p:cNvSpPr txBox="1"/>
          <p:nvPr/>
        </p:nvSpPr>
        <p:spPr>
          <a:xfrm>
            <a:off x="640080" y="6263640"/>
            <a:ext cx="10881360" cy="365760"/>
          </a:xfrm>
          <a:prstGeom prst="rect">
            <a:avLst/>
          </a:prstGeom>
          <a:noFill/>
        </p:spPr>
        <p:txBody>
          <a:bodyPr wrap="square">
            <a:spAutoFit/>
          </a:bodyPr>
          <a:lstStyle/>
          <a:p>
            <a:pPr>
              <a:spcAft>
                <a:spcPts val="1000"/>
              </a:spcAft>
            </a:pPr>
            <a:r>
              <a:rPr sz="1200" b="0" i="0">
                <a:solidFill>
                  <a:srgbClr val="6B7280"/>
                </a:solidFill>
              </a:rPr>
              <a:t>Gifts of the Spirit</a:t>
            </a:r>
          </a:p>
        </p:txBody>
      </p:sp>
      <p:sp>
        <p:nvSpPr>
          <p:cNvPr id="5" name="TextBox 4"/>
          <p:cNvSpPr txBox="1"/>
          <p:nvPr/>
        </p:nvSpPr>
        <p:spPr>
          <a:xfrm>
            <a:off x="640080" y="1554480"/>
            <a:ext cx="10881360" cy="4572000"/>
          </a:xfrm>
          <a:prstGeom prst="rect">
            <a:avLst/>
          </a:prstGeom>
          <a:noFill/>
        </p:spPr>
        <p:txBody>
          <a:bodyPr wrap="square">
            <a:spAutoFit/>
          </a:bodyPr>
          <a:lstStyle/>
          <a:p>
            <a:pPr>
              <a:spcAft>
                <a:spcPts val="1800"/>
              </a:spcAft>
            </a:pPr>
            <a:r>
              <a:rPr sz="3000" b="1" i="0">
                <a:solidFill>
                  <a:srgbClr val="2E5E8C"/>
                </a:solidFill>
              </a:rPr>
              <a:t>•  </a:t>
            </a:r>
            <a:r>
              <a:rPr sz="3000" b="0" i="0">
                <a:solidFill>
                  <a:srgbClr val="222B36"/>
                </a:solidFill>
              </a:rPr>
              <a:t>Faith cometh by hearing, and hearing by the word of God.</a:t>
            </a:r>
          </a:p>
          <a:p>
            <a:pPr>
              <a:spcAft>
                <a:spcPts val="1800"/>
              </a:spcAft>
            </a:pPr>
            <a:r>
              <a:rPr sz="3000" b="1" i="0">
                <a:solidFill>
                  <a:srgbClr val="2E5E8C"/>
                </a:solidFill>
              </a:rPr>
              <a:t>•  </a:t>
            </a:r>
            <a:r>
              <a:rPr sz="3000" b="0" i="0">
                <a:solidFill>
                  <a:srgbClr val="222B36"/>
                </a:solidFill>
              </a:rPr>
              <a:t>The Holy Ghost is given through the Word and Sacraments.</a:t>
            </a:r>
          </a:p>
          <a:p>
            <a:pPr>
              <a:spcAft>
                <a:spcPts val="1000"/>
              </a:spcAft>
            </a:pPr>
            <a:r>
              <a:rPr sz="2000" b="0" i="1">
                <a:solidFill>
                  <a:srgbClr val="6B7280"/>
                </a:solidFill>
              </a:rPr>
              <a:t>Read: Romans 10:17; 1 Corinthians 14:33; 1 Corinthians 14:40; 2 Timothy 3:16-17; Luke 16:29-31</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2E5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11480"/>
            <a:ext cx="10881360" cy="914400"/>
          </a:xfrm>
          <a:prstGeom prst="rect">
            <a:avLst/>
          </a:prstGeom>
          <a:noFill/>
        </p:spPr>
        <p:txBody>
          <a:bodyPr wrap="square">
            <a:spAutoFit/>
          </a:bodyPr>
          <a:lstStyle/>
          <a:p>
            <a:pPr>
              <a:spcAft>
                <a:spcPts val="1000"/>
              </a:spcAft>
            </a:pPr>
            <a:r>
              <a:rPr sz="3200" b="1" i="0">
                <a:solidFill>
                  <a:srgbClr val="222B36"/>
                </a:solidFill>
              </a:rPr>
              <a:t>Discuss</a:t>
            </a:r>
          </a:p>
        </p:txBody>
      </p:sp>
      <p:sp>
        <p:nvSpPr>
          <p:cNvPr id="4" name="TextBox 3"/>
          <p:cNvSpPr txBox="1"/>
          <p:nvPr/>
        </p:nvSpPr>
        <p:spPr>
          <a:xfrm>
            <a:off x="640080" y="6263640"/>
            <a:ext cx="10881360" cy="365760"/>
          </a:xfrm>
          <a:prstGeom prst="rect">
            <a:avLst/>
          </a:prstGeom>
          <a:noFill/>
        </p:spPr>
        <p:txBody>
          <a:bodyPr wrap="square">
            <a:spAutoFit/>
          </a:bodyPr>
          <a:lstStyle/>
          <a:p>
            <a:pPr>
              <a:spcAft>
                <a:spcPts val="1000"/>
              </a:spcAft>
            </a:pPr>
            <a:r>
              <a:rPr sz="1200" b="0" i="0">
                <a:solidFill>
                  <a:srgbClr val="6B7280"/>
                </a:solidFill>
              </a:rPr>
              <a:t>Gifts of the Spirit</a:t>
            </a:r>
          </a:p>
        </p:txBody>
      </p:sp>
      <p:sp>
        <p:nvSpPr>
          <p:cNvPr id="5" name="TextBox 4"/>
          <p:cNvSpPr txBox="1"/>
          <p:nvPr/>
        </p:nvSpPr>
        <p:spPr>
          <a:xfrm>
            <a:off x="640080" y="1554480"/>
            <a:ext cx="10881360" cy="4572000"/>
          </a:xfrm>
          <a:prstGeom prst="rect">
            <a:avLst/>
          </a:prstGeom>
          <a:noFill/>
        </p:spPr>
        <p:txBody>
          <a:bodyPr wrap="square">
            <a:spAutoFit/>
          </a:bodyPr>
          <a:lstStyle/>
          <a:p>
            <a:pPr>
              <a:spcAft>
                <a:spcPts val="1800"/>
              </a:spcAft>
            </a:pPr>
            <a:r>
              <a:rPr sz="2800" b="1" i="0">
                <a:solidFill>
                  <a:srgbClr val="2E5E8C"/>
                </a:solidFill>
              </a:rPr>
              <a:t>1.  </a:t>
            </a:r>
            <a:r>
              <a:rPr sz="2800" b="0" i="0">
                <a:solidFill>
                  <a:srgbClr val="222B36"/>
                </a:solidFill>
              </a:rPr>
              <a:t>What do all Christians agree about spiritual gifts, according to this passage?</a:t>
            </a:r>
          </a:p>
          <a:p>
            <a:pPr>
              <a:spcAft>
                <a:spcPts val="1800"/>
              </a:spcAft>
            </a:pPr>
            <a:r>
              <a:rPr sz="2800" b="1" i="0">
                <a:solidFill>
                  <a:srgbClr val="2E5E8C"/>
                </a:solidFill>
              </a:rPr>
              <a:t>2.  </a:t>
            </a:r>
            <a:r>
              <a:rPr sz="2800" b="0" i="0">
                <a:solidFill>
                  <a:srgbClr val="222B36"/>
                </a:solidFill>
              </a:rPr>
              <a:t>Why do Lutherans insist that the Spirit works through the Word and Sacraments?</a:t>
            </a:r>
          </a:p>
          <a:p>
            <a:pPr>
              <a:spcAft>
                <a:spcPts val="1800"/>
              </a:spcAft>
            </a:pPr>
            <a:r>
              <a:rPr sz="2800" b="1" i="0">
                <a:solidFill>
                  <a:srgbClr val="2E5E8C"/>
                </a:solidFill>
              </a:rPr>
              <a:t>3.  </a:t>
            </a:r>
            <a:r>
              <a:rPr sz="2800" b="0" i="0">
                <a:solidFill>
                  <a:srgbClr val="222B36"/>
                </a:solidFill>
              </a:rPr>
              <a:t>What gifts has God given you, and how could you use one this week to serve others?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2E5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11480"/>
            <a:ext cx="10881360" cy="914400"/>
          </a:xfrm>
          <a:prstGeom prst="rect">
            <a:avLst/>
          </a:prstGeom>
          <a:noFill/>
        </p:spPr>
        <p:txBody>
          <a:bodyPr wrap="square">
            <a:spAutoFit/>
          </a:bodyPr>
          <a:lstStyle/>
          <a:p>
            <a:pPr>
              <a:spcAft>
                <a:spcPts val="1000"/>
              </a:spcAft>
            </a:pPr>
            <a:r>
              <a:rPr sz="3200" b="1" i="0">
                <a:solidFill>
                  <a:srgbClr val="222B36"/>
                </a:solidFill>
              </a:rPr>
              <a:t>Discuss (continued)</a:t>
            </a:r>
          </a:p>
        </p:txBody>
      </p:sp>
      <p:sp>
        <p:nvSpPr>
          <p:cNvPr id="4" name="TextBox 3"/>
          <p:cNvSpPr txBox="1"/>
          <p:nvPr/>
        </p:nvSpPr>
        <p:spPr>
          <a:xfrm>
            <a:off x="640080" y="6263640"/>
            <a:ext cx="10881360" cy="365760"/>
          </a:xfrm>
          <a:prstGeom prst="rect">
            <a:avLst/>
          </a:prstGeom>
          <a:noFill/>
        </p:spPr>
        <p:txBody>
          <a:bodyPr wrap="square">
            <a:spAutoFit/>
          </a:bodyPr>
          <a:lstStyle/>
          <a:p>
            <a:pPr>
              <a:spcAft>
                <a:spcPts val="1000"/>
              </a:spcAft>
            </a:pPr>
            <a:r>
              <a:rPr sz="1200" b="0" i="0">
                <a:solidFill>
                  <a:srgbClr val="6B7280"/>
                </a:solidFill>
              </a:rPr>
              <a:t>Gifts of the Spirit</a:t>
            </a:r>
          </a:p>
        </p:txBody>
      </p:sp>
      <p:sp>
        <p:nvSpPr>
          <p:cNvPr id="5" name="TextBox 4"/>
          <p:cNvSpPr txBox="1"/>
          <p:nvPr/>
        </p:nvSpPr>
        <p:spPr>
          <a:xfrm>
            <a:off x="640080" y="1554480"/>
            <a:ext cx="10881360" cy="4572000"/>
          </a:xfrm>
          <a:prstGeom prst="rect">
            <a:avLst/>
          </a:prstGeom>
          <a:noFill/>
        </p:spPr>
        <p:txBody>
          <a:bodyPr wrap="square">
            <a:spAutoFit/>
          </a:bodyPr>
          <a:lstStyle/>
          <a:p>
            <a:pPr>
              <a:spcAft>
                <a:spcPts val="1800"/>
              </a:spcAft>
            </a:pPr>
            <a:r>
              <a:rPr sz="2800" b="1" i="0">
                <a:solidFill>
                  <a:srgbClr val="2E5E8C"/>
                </a:solidFill>
              </a:rPr>
              <a:t>4.  </a:t>
            </a:r>
            <a:r>
              <a:rPr sz="2800" b="0" i="0">
                <a:solidFill>
                  <a:srgbClr val="222B36"/>
                </a:solidFill>
              </a:rPr>
              <a:t>How can we hold our own convictions about the gifts while loving believers who see this differently?</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