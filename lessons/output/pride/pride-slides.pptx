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Pharisee "prayed thus with himself." His prayer was really a speech about himself, with a sideways glance at the sinner nearby. Pride uses others as a measuring stick, and always finds someone worse to stand above.</a:t>
            </a:r>
          </a:p>
          <a:p/>
          <a:p>
            <a:r>
              <a:t>“They did not trust to God or the Messiah for righteousness, but to their own works.” — Albert Barnes, Notes on the New Testament, on Luke 18:9</a:t>
            </a:r>
          </a:p>
          <a:p/>
          <a:p>
            <a:r>
              <a:t>“Our Lord grants that the Pharisees made clean the outside: but, alas! what pride, vain glory, and contempt for others, were lodged within!” — Adam Clarke, Commentary on the Bible, on Luke 18:9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publican stood far off, would not look up, beat his breast, and prayed seven words: "God be merciful to me a sinner." He offered no record, no excuses and no comparisons, only his need and God's mercy. Strangely, standing far off was the way to come near to God.</a:t>
            </a:r>
          </a:p>
          <a:p/>
          <a:p>
            <a:r>
              <a:t>“as unworthy to draw near; but that was the way to get near” — David Brown, Commentary Critical and Explanatory on the Whole Bible (Jamieson, Fausset and Brown), on Luke 18:13</a:t>
            </a:r>
          </a:p>
          <a:p/>
          <a:p>
            <a:r>
              <a:t>“because he was a true penitent, and felt himself utterly unworthy to appear before God.” — Adam Clarke, Commentary on the Bible, on Luke 18:13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"This man went down to his house justified rather than the other" (v. 14). The religious man went home unchanged; the sinner went home right with God. Jesus states the rule of his kingdom: everyone who exalts himself will be humbled, and whoever humbles himself will be exalted.</a:t>
            </a:r>
          </a:p>
          <a:p/>
          <a:p>
            <a:r>
              <a:t>“for the Pharisee was not seeking justification, and felt no need of it.” — David Brown, Commentary Critical and Explanatory on the Whole Bible (Jamieson, Fausset and Brown), on Luke 18:14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246120"/>
            <a:ext cx="1463040" cy="73152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400" b="1" i="0">
                <a:solidFill>
                  <a:srgbClr val="222B36"/>
                </a:solidFill>
              </a:rPr>
              <a:t>God Be Merciful to Me a Sinner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2044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1">
                <a:solidFill>
                  <a:srgbClr val="222B36"/>
                </a:solidFill>
              </a:rPr>
              <a:t>God turns away the proud who trust in their own goodness, and he receives the humble who come asking for mercy.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6B7280"/>
                </a:solidFill>
              </a:rPr>
              <a:t>Luke 18:9-14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Luke 18:9-14 (1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God Be Merciful to Me a Sinner   ·   KJV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2E5E8C"/>
                </a:solidFill>
              </a:rPr>
              <a:t>9 </a:t>
            </a:r>
            <a:r>
              <a:rPr sz="2800" b="0" i="0">
                <a:solidFill>
                  <a:srgbClr val="222B36"/>
                </a:solidFill>
              </a:rPr>
              <a:t>And he spake this parable unto certain which trusted in themselves that they were righteous, and despised others: </a:t>
            </a:r>
            <a:r>
              <a:rPr sz="1600" b="1" i="0">
                <a:solidFill>
                  <a:srgbClr val="2E5E8C"/>
                </a:solidFill>
              </a:rPr>
              <a:t>10 </a:t>
            </a:r>
            <a:r>
              <a:rPr sz="2800" b="0" i="0">
                <a:solidFill>
                  <a:srgbClr val="222B36"/>
                </a:solidFill>
              </a:rPr>
              <a:t>Two men went up into the temple to pray; the one a Pharisee, and the other a publican. </a:t>
            </a:r>
            <a:r>
              <a:rPr sz="1600" b="1" i="0">
                <a:solidFill>
                  <a:srgbClr val="2E5E8C"/>
                </a:solidFill>
              </a:rPr>
              <a:t>11 </a:t>
            </a:r>
            <a:r>
              <a:rPr sz="2800" b="0" i="0">
                <a:solidFill>
                  <a:srgbClr val="222B36"/>
                </a:solidFill>
              </a:rPr>
              <a:t>The Pharisee stood and prayed thus with himself, God, I thank thee, that I am not as other men are, extortioners, unjust, adulterers, or even as this publican.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Luke 18:9-14 (2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God Be Merciful to Me a Sinner   ·   KJV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2E5E8C"/>
                </a:solidFill>
              </a:rPr>
              <a:t>12 </a:t>
            </a:r>
            <a:r>
              <a:rPr sz="2800" b="0" i="0">
                <a:solidFill>
                  <a:srgbClr val="222B36"/>
                </a:solidFill>
              </a:rPr>
              <a:t>I fast twice in the week, I give tithes of all that I possess. </a:t>
            </a:r>
            <a:r>
              <a:rPr sz="1600" b="1" i="0">
                <a:solidFill>
                  <a:srgbClr val="2E5E8C"/>
                </a:solidFill>
              </a:rPr>
              <a:t>13 </a:t>
            </a:r>
            <a:r>
              <a:rPr sz="2800" b="0" i="0">
                <a:solidFill>
                  <a:srgbClr val="222B36"/>
                </a:solidFill>
              </a:rPr>
              <a:t>And the publican, standing afar off, would not lift up so much as his eyes unto heaven, but smote upon his breast, saying, God be merciful to me a sinner.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Luke 18:9-14 (3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God Be Merciful to Me a Sinner   ·   KJV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2E5E8C"/>
                </a:solidFill>
              </a:rPr>
              <a:t>14 </a:t>
            </a:r>
            <a:r>
              <a:rPr sz="2800" b="0" i="0">
                <a:solidFill>
                  <a:srgbClr val="222B36"/>
                </a:solidFill>
              </a:rPr>
              <a:t>I tell you, this man went down to his house justified rather than the other: for every one that exalteth himself shall be abased; and he that humbleth himself shall be exalted.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1. Pride trusts itself and looks down on 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God Be Merciful to Me a Sinner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They trusted in themselves that they were righteous.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Pride measures itself against other people.</a:t>
            </a:r>
          </a:p>
          <a:p>
            <a:pPr>
              <a:spcAft>
                <a:spcPts val="1000"/>
              </a:spcAft>
            </a:pPr>
            <a:r>
              <a:rPr sz="2000" b="0" i="1">
                <a:solidFill>
                  <a:srgbClr val="6B7280"/>
                </a:solidFill>
              </a:rPr>
              <a:t>Read: Luke 18:9-12; Proverbs 16:18; Romans 12:3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2. Humility comes empty-handed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God Be Merciful to Me a Sinner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God be merciful to me a sinner.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The publican came to God with nothing but his need.</a:t>
            </a:r>
          </a:p>
          <a:p>
            <a:pPr>
              <a:spcAft>
                <a:spcPts val="1000"/>
              </a:spcAft>
            </a:pPr>
            <a:r>
              <a:rPr sz="2000" b="0" i="1">
                <a:solidFill>
                  <a:srgbClr val="6B7280"/>
                </a:solidFill>
              </a:rPr>
              <a:t>Read: Luke 18:13; Psalm 51:17; Isaiah 57:15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3. God exalts the humble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God Be Merciful to Me a Sinner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This man went down to his house justified rather than the other.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He that humbleth himself shall be exalted.</a:t>
            </a:r>
          </a:p>
          <a:p>
            <a:pPr>
              <a:spcAft>
                <a:spcPts val="1000"/>
              </a:spcAft>
            </a:pPr>
            <a:r>
              <a:rPr sz="2000" b="0" i="1">
                <a:solidFill>
                  <a:srgbClr val="6B7280"/>
                </a:solidFill>
              </a:rPr>
              <a:t>Read: Luke 18:14; James 4:6; 1 Peter 5:5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Discuss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God Be Merciful to Me a Sinner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1.  </a:t>
            </a:r>
            <a:r>
              <a:rPr sz="2800" b="0" i="0">
                <a:solidFill>
                  <a:srgbClr val="222B36"/>
                </a:solidFill>
              </a:rPr>
              <a:t>What was good about the Pharisee's life? What was wrong with his prayer?</a:t>
            </a:r>
          </a:p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2.  </a:t>
            </a:r>
            <a:r>
              <a:rPr sz="2800" b="0" i="0">
                <a:solidFill>
                  <a:srgbClr val="222B36"/>
                </a:solidFill>
              </a:rPr>
              <a:t>In what subtle ways do we compare ourselves with others to feel better?</a:t>
            </a:r>
          </a:p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3.  </a:t>
            </a:r>
            <a:r>
              <a:rPr sz="2800" b="0" i="0">
                <a:solidFill>
                  <a:srgbClr val="222B36"/>
                </a:solidFill>
              </a:rPr>
              <a:t>Why is "God be merciful to me a sinner" such a powerful prayer?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Discuss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God Be Merciful to Me a Sinner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4.  </a:t>
            </a:r>
            <a:r>
              <a:rPr sz="2800" b="0" i="0">
                <a:solidFill>
                  <a:srgbClr val="222B36"/>
                </a:solidFill>
              </a:rPr>
              <a:t>How can we hold high standards without falling into the Pharisee's pride?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