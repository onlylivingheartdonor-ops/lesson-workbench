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does not say we were sick or weak; he says we were "dead in trespasses and sins" (v. 1). We were following the world's way, the devil's lead and our own desires. A dead person cannot help bring himself back to life. That hard truth is the background that makes grace good news.</a:t>
            </a:r>
          </a:p>
          <a:p/>
          <a:p>
            <a:r>
              <a:t>“As they were corrupt in their nature, and sinful in their practice, they could possess no merit, nor have any claim upon God” — Adam Clarke, Commentary on the Bible, on Ephesians 2:4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God" changes everything. Because of his great love, God made us alive together with Christ and raised us up with him. The reason is in God, not in us: he is "rich in mercy." Salvation is by grace, his undeserved favour, received through faith. It is "the gift of God," so no one can boast.</a:t>
            </a:r>
          </a:p>
          <a:p/>
          <a:p>
            <a:r>
              <a:t>“Mercy is the riches or the wealth of God.” — Albert Barnes, Notes on the New Testament, on Ephesians 2:4</a:t>
            </a:r>
          </a:p>
          <a:p/>
          <a:p>
            <a:r>
              <a:t>“By mere favour. It is not by your own merit; it is not because you have any claim.” — Albert Barnes, Notes on the New Testament, on Ephesians 2:8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Verse 10 is the other side of verses 8-9. We are not saved by good works, but we are saved for them. We are God's "workmanship." The Greek word gives us our word "poem": we are his handiwork, created in Christ for a life of good works that he has prepared. Good works are the fruit of grace, not the price of it.</a:t>
            </a:r>
          </a:p>
          <a:p/>
          <a:p>
            <a:r>
              <a:t>“We are his making” — Albert Barnes, Notes on the New Testament, on Ephesians 2:10</a:t>
            </a:r>
          </a:p>
          <a:p/>
          <a:p>
            <a:r>
              <a:t>“Every converted sinner is a saved sinner.” — Matthew Henry, Commentary on the Whole Bible, on Ephesians 2:4-10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Saved by Grace</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God, rich in mercy, made us alive in Christ when we were dead in sin; salvation is his gift, not our achievement, and it makes us his workmanship for good works.</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Ephesians 2:1-10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Ephesians 2:1-10 (1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Saved by Grace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And you hath he quickened, who were dead in trespasses and sins; </a:t>
            </a:r>
            <a:r>
              <a:rPr sz="1600" b="1" i="0">
                <a:solidFill>
                  <a:srgbClr val="2E5E8C"/>
                </a:solidFill>
              </a:rPr>
              <a:t>2 </a:t>
            </a:r>
            <a:r>
              <a:rPr sz="2800" b="0" i="0">
                <a:solidFill>
                  <a:srgbClr val="222B36"/>
                </a:solidFill>
              </a:rPr>
              <a:t>Wherein in time past ye walked according to the course of this world, according to the prince of the power of the air, the spirit that now worketh in the children of disobedience: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Ephesians 2:1-10 (2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Saved by Grace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 </a:t>
            </a:r>
            <a:r>
              <a:rPr sz="2800" b="0" i="0">
                <a:solidFill>
                  <a:srgbClr val="222B36"/>
                </a:solidFill>
              </a:rPr>
              <a:t>Among whom also we all had our conversation in times past in the lusts of our flesh, fulfilling the desires of the flesh and of the mind; and were by nature the children of wrath, even as others. </a:t>
            </a:r>
            <a:r>
              <a:rPr sz="1600" b="1" i="0">
                <a:solidFill>
                  <a:srgbClr val="2E5E8C"/>
                </a:solidFill>
              </a:rPr>
              <a:t>4 </a:t>
            </a:r>
            <a:r>
              <a:rPr sz="2800" b="0" i="0">
                <a:solidFill>
                  <a:srgbClr val="222B36"/>
                </a:solidFill>
              </a:rPr>
              <a:t>But God, who is rich in mercy, for his great love wherewith he loved us,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Ephesians 2:1-10 (3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Saved by Grace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5 </a:t>
            </a:r>
            <a:r>
              <a:rPr sz="2800" b="0" i="0">
                <a:solidFill>
                  <a:srgbClr val="222B36"/>
                </a:solidFill>
              </a:rPr>
              <a:t>Even when we were dead in sins, hath quickened us together with Christ, (by grace ye are saved;) </a:t>
            </a:r>
            <a:r>
              <a:rPr sz="1600" b="1" i="0">
                <a:solidFill>
                  <a:srgbClr val="2E5E8C"/>
                </a:solidFill>
              </a:rPr>
              <a:t>6 </a:t>
            </a:r>
            <a:r>
              <a:rPr sz="2800" b="0" i="0">
                <a:solidFill>
                  <a:srgbClr val="222B36"/>
                </a:solidFill>
              </a:rPr>
              <a:t>And hath raised us up together, and made us sit together in heavenly places in Christ Jesus: </a:t>
            </a:r>
            <a:r>
              <a:rPr sz="1600" b="1" i="0">
                <a:solidFill>
                  <a:srgbClr val="2E5E8C"/>
                </a:solidFill>
              </a:rPr>
              <a:t>7 </a:t>
            </a:r>
            <a:r>
              <a:rPr sz="2800" b="0" i="0">
                <a:solidFill>
                  <a:srgbClr val="222B36"/>
                </a:solidFill>
              </a:rPr>
              <a:t>That in the ages to come he might shew the exceeding riches of his grace in his kindness toward us through Christ Jesus.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Ephesians 2:1-10 (4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Saved by Grace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For by grace are ye saved through faith; and that not of yourselves: it is the gift of God: </a:t>
            </a:r>
            <a:r>
              <a:rPr sz="1600" b="1" i="0">
                <a:solidFill>
                  <a:srgbClr val="2E5E8C"/>
                </a:solidFill>
              </a:rPr>
              <a:t>9 </a:t>
            </a:r>
            <a:r>
              <a:rPr sz="2800" b="0" i="0">
                <a:solidFill>
                  <a:srgbClr val="222B36"/>
                </a:solidFill>
              </a:rPr>
              <a:t>Not of works, lest any man should boast. </a:t>
            </a:r>
            <a:r>
              <a:rPr sz="1600" b="1" i="0">
                <a:solidFill>
                  <a:srgbClr val="2E5E8C"/>
                </a:solidFill>
              </a:rPr>
              <a:t>10 </a:t>
            </a:r>
            <a:r>
              <a:rPr sz="2800" b="0" i="0">
                <a:solidFill>
                  <a:srgbClr val="222B36"/>
                </a:solidFill>
              </a:rPr>
              <a:t>For we are his workmanship, created in Christ Jesus unto good works, which God hath before ordained that we should walk in them.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We were dead, and could not save ourselves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Saved by Grace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Without Christ we were dead in trespasses and sins.</a:t>
            </a:r>
          </a:p>
          <a:p>
            <a:pPr>
              <a:spcAft>
                <a:spcPts val="1800"/>
              </a:spcAft>
            </a:pPr>
            <a:r>
              <a:rPr sz="3000" b="1" i="0">
                <a:solidFill>
                  <a:srgbClr val="2E5E8C"/>
                </a:solidFill>
              </a:rPr>
              <a:t>•  </a:t>
            </a:r>
            <a:r>
              <a:rPr sz="3000" b="0" i="0">
                <a:solidFill>
                  <a:srgbClr val="222B36"/>
                </a:solidFill>
              </a:rPr>
              <a:t>We could not save ourselves.</a:t>
            </a:r>
          </a:p>
          <a:p>
            <a:pPr>
              <a:spcAft>
                <a:spcPts val="1000"/>
              </a:spcAft>
            </a:pPr>
            <a:r>
              <a:rPr sz="2000" b="0" i="1">
                <a:solidFill>
                  <a:srgbClr val="6B7280"/>
                </a:solidFill>
              </a:rPr>
              <a:t>Read: Ephesians 2:1-3; Romans 3:23; Romans 5:12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But God, rich in mercy, made us alive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Saved by Grace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God is rich in mercy.</a:t>
            </a:r>
          </a:p>
          <a:p>
            <a:pPr>
              <a:spcAft>
                <a:spcPts val="1800"/>
              </a:spcAft>
            </a:pPr>
            <a:r>
              <a:rPr sz="3000" b="1" i="0">
                <a:solidFill>
                  <a:srgbClr val="2E5E8C"/>
                </a:solidFill>
              </a:rPr>
              <a:t>•  </a:t>
            </a:r>
            <a:r>
              <a:rPr sz="3000" b="0" i="0">
                <a:solidFill>
                  <a:srgbClr val="222B36"/>
                </a:solidFill>
              </a:rPr>
              <a:t>By grace are ye saved through faith.</a:t>
            </a:r>
          </a:p>
          <a:p>
            <a:pPr>
              <a:spcAft>
                <a:spcPts val="1800"/>
              </a:spcAft>
            </a:pPr>
            <a:r>
              <a:rPr sz="3000" b="1" i="0">
                <a:solidFill>
                  <a:srgbClr val="2E5E8C"/>
                </a:solidFill>
              </a:rPr>
              <a:t>•  </a:t>
            </a:r>
            <a:r>
              <a:rPr sz="3000" b="0" i="0">
                <a:solidFill>
                  <a:srgbClr val="222B36"/>
                </a:solidFill>
              </a:rPr>
              <a:t>Salvation is the gift of God, not of works.</a:t>
            </a:r>
          </a:p>
          <a:p>
            <a:pPr>
              <a:spcAft>
                <a:spcPts val="1000"/>
              </a:spcAft>
            </a:pPr>
            <a:r>
              <a:rPr sz="2000" b="0" i="1">
                <a:solidFill>
                  <a:srgbClr val="6B7280"/>
                </a:solidFill>
              </a:rPr>
              <a:t>Read: Ephesians 2:4-9; Romans 5:8; Titus 3:4-7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Saved for good works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Saved by Grace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We are God's workmanship, created in Christ Jesus.</a:t>
            </a:r>
          </a:p>
          <a:p>
            <a:pPr>
              <a:spcAft>
                <a:spcPts val="1800"/>
              </a:spcAft>
            </a:pPr>
            <a:r>
              <a:rPr sz="3000" b="1" i="0">
                <a:solidFill>
                  <a:srgbClr val="2E5E8C"/>
                </a:solidFill>
              </a:rPr>
              <a:t>•  </a:t>
            </a:r>
            <a:r>
              <a:rPr sz="3000" b="0" i="0">
                <a:solidFill>
                  <a:srgbClr val="222B36"/>
                </a:solidFill>
              </a:rPr>
              <a:t>We are saved not by good works but for good works.</a:t>
            </a:r>
          </a:p>
          <a:p>
            <a:pPr>
              <a:spcAft>
                <a:spcPts val="1000"/>
              </a:spcAft>
            </a:pPr>
            <a:r>
              <a:rPr sz="2000" b="0" i="1">
                <a:solidFill>
                  <a:srgbClr val="6B7280"/>
                </a:solidFill>
              </a:rPr>
              <a:t>Read: Ephesians 2:10; Titus 2:11-14; James 2:17-18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Saved by Grace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 you think Paul begins with such a dark picture (vv. 1-3) before the good news?</a:t>
            </a:r>
          </a:p>
          <a:p>
            <a:pPr>
              <a:spcAft>
                <a:spcPts val="1800"/>
              </a:spcAft>
            </a:pPr>
            <a:r>
              <a:rPr sz="2800" b="1" i="0">
                <a:solidFill>
                  <a:srgbClr val="2E5E8C"/>
                </a:solidFill>
              </a:rPr>
              <a:t>2.  </a:t>
            </a:r>
            <a:r>
              <a:rPr sz="2800" b="0" i="0">
                <a:solidFill>
                  <a:srgbClr val="222B36"/>
                </a:solidFill>
              </a:rPr>
              <a:t>What do the words "But God" (v. 4) mean to you personally?</a:t>
            </a:r>
          </a:p>
          <a:p>
            <a:pPr>
              <a:spcAft>
                <a:spcPts val="1800"/>
              </a:spcAft>
            </a:pPr>
            <a:r>
              <a:rPr sz="2800" b="1" i="0">
                <a:solidFill>
                  <a:srgbClr val="2E5E8C"/>
                </a:solidFill>
              </a:rPr>
              <a:t>3.  </a:t>
            </a:r>
            <a:r>
              <a:rPr sz="2800" b="0" i="0">
                <a:solidFill>
                  <a:srgbClr val="222B36"/>
                </a:solidFill>
              </a:rPr>
              <a:t>Why does it matter that salvation leaves no room for boasting?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Saved by Grace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do verses 8-9 and verse 10 fit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