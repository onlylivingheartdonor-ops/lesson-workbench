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younger son wanted his father's gifts without his father's presence. He found freedom, then famine. Sin always overpromises. By the end he was feeding pigs and wishing he could eat their food. Matthew Henry sums up the story in a few short sayings.</a:t>
            </a:r>
          </a:p>
          <a:p/>
          <a:p>
            <a:r>
              <a:t>“It is bad, and the beginning of worse, when men look upon God's gifts as debts.” — Matthew Henry, Commentary on the Whole Bible, on Luke 15:11-32</a:t>
            </a:r>
          </a:p>
          <a:p/>
          <a:p>
            <a:r>
              <a:t>“Shame, contempt, and distress are wedded to sin, and can never be divorced.” — Adam Clarke, Commentary on the Bible, on Luke 15:15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 came to himself" (v. 17). Sin is a kind of madness, and repentance is a return to sanity. The son saw his condition, remembered his father's goodness, decided to go back, and confessed honestly: "Father, I have sinned." Repentance is more than feeling sorry. It is a change of mind that turns our feet toward home.</a:t>
            </a:r>
          </a:p>
          <a:p/>
          <a:p>
            <a:r>
              <a:t>“A state of sin is represented in the sacred writings as a course of folly and madness; and repentance is represented as a restoration to sound sense.” — Adam Clarke, Commentary on the Bible, on Luke 15:17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surprising person in the story is the father. He sees his son "a great way off," runs, hugs and kisses him, and interrupts his confession with a robe, a ring, shoes and a feast. That is Jesus' picture of God. We do not have to clean ourselves up before coming home. The Father is already watching the road.</a:t>
            </a:r>
          </a:p>
          <a:p/>
          <a:p>
            <a:r>
              <a:t>“when but the face is turned homeward, though as yet far, far away, our Father recognizes His own child in us, and bounds to meet us” — David Brown, Commentary Critical and Explanatory on the Whole Bible (Jamieson, Fausset and Brown), on Luke 15:20</a:t>
            </a:r>
          </a:p>
          <a:p/>
          <a:p>
            <a:r>
              <a:t>“The father thus showed his great tenderness towards him, and his great affection for him.” — Adam Clarke, Commentary on the Bible, on Luke 15:20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Coming Home to the Father</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Repentance is coming to our senses and coming home, and the Father runs to meet every sinner who turns back to him.</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Luke 15:11-24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15:11-24 (1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Coming Home to the Father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11 </a:t>
            </a:r>
            <a:r>
              <a:rPr sz="2800" b="0" i="0">
                <a:solidFill>
                  <a:srgbClr val="222B36"/>
                </a:solidFill>
              </a:rPr>
              <a:t>And he said, A certain man had two sons: </a:t>
            </a:r>
            <a:r>
              <a:rPr sz="1600" b="1" i="0">
                <a:solidFill>
                  <a:srgbClr val="2E5E8C"/>
                </a:solidFill>
              </a:rPr>
              <a:t>12 </a:t>
            </a:r>
            <a:r>
              <a:rPr sz="2800" b="0" i="0">
                <a:solidFill>
                  <a:srgbClr val="222B36"/>
                </a:solidFill>
              </a:rPr>
              <a:t>And the younger of them said to his father, Father, give me the portion of goods that falleth to me. And he divided unto them his living. </a:t>
            </a:r>
            <a:r>
              <a:rPr sz="1600" b="1" i="0">
                <a:solidFill>
                  <a:srgbClr val="2E5E8C"/>
                </a:solidFill>
              </a:rPr>
              <a:t>13 </a:t>
            </a:r>
            <a:r>
              <a:rPr sz="2800" b="0" i="0">
                <a:solidFill>
                  <a:srgbClr val="222B36"/>
                </a:solidFill>
              </a:rPr>
              <a:t>And not many days after the younger son gathered all together, and took his journey into a far country, and there wasted his substance with riotous living.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15:11-24 (2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Coming Home to the Father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14 </a:t>
            </a:r>
            <a:r>
              <a:rPr sz="2800" b="0" i="0">
                <a:solidFill>
                  <a:srgbClr val="222B36"/>
                </a:solidFill>
              </a:rPr>
              <a:t>And when he had spent all, there arose a mighty famine in that land; and he began to be in want. </a:t>
            </a:r>
            <a:r>
              <a:rPr sz="1600" b="1" i="0">
                <a:solidFill>
                  <a:srgbClr val="2E5E8C"/>
                </a:solidFill>
              </a:rPr>
              <a:t>15 </a:t>
            </a:r>
            <a:r>
              <a:rPr sz="2800" b="0" i="0">
                <a:solidFill>
                  <a:srgbClr val="222B36"/>
                </a:solidFill>
              </a:rPr>
              <a:t>And he went and joined himself to a citizen of that country; and he sent him into his fields to feed swine. </a:t>
            </a:r>
            <a:r>
              <a:rPr sz="1600" b="1" i="0">
                <a:solidFill>
                  <a:srgbClr val="2E5E8C"/>
                </a:solidFill>
              </a:rPr>
              <a:t>16 </a:t>
            </a:r>
            <a:r>
              <a:rPr sz="2800" b="0" i="0">
                <a:solidFill>
                  <a:srgbClr val="222B36"/>
                </a:solidFill>
              </a:rPr>
              <a:t>And he would fain have filled his belly with the husks that the swine did eat: and no man gave unto him.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15:11-24 (3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Coming Home to the Father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17 </a:t>
            </a:r>
            <a:r>
              <a:rPr sz="2800" b="0" i="0">
                <a:solidFill>
                  <a:srgbClr val="222B36"/>
                </a:solidFill>
              </a:rPr>
              <a:t>And when he came to himself, he said, How many hired servants of my father’s have bread enough and to spare, and I perish with hunger! </a:t>
            </a:r>
            <a:r>
              <a:rPr sz="1600" b="1" i="0">
                <a:solidFill>
                  <a:srgbClr val="2E5E8C"/>
                </a:solidFill>
              </a:rPr>
              <a:t>18 </a:t>
            </a:r>
            <a:r>
              <a:rPr sz="2800" b="0" i="0">
                <a:solidFill>
                  <a:srgbClr val="222B36"/>
                </a:solidFill>
              </a:rPr>
              <a:t>I will arise and go to my father, and will say unto him, Father, I have sinned against heaven, and before thee, </a:t>
            </a:r>
            <a:r>
              <a:rPr sz="1600" b="1" i="0">
                <a:solidFill>
                  <a:srgbClr val="2E5E8C"/>
                </a:solidFill>
              </a:rPr>
              <a:t>19 </a:t>
            </a:r>
            <a:r>
              <a:rPr sz="2800" b="0" i="0">
                <a:solidFill>
                  <a:srgbClr val="222B36"/>
                </a:solidFill>
              </a:rPr>
              <a:t>And am no more worthy to be called thy son: make me as one of thy hired servants.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15:11-24 (4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Coming Home to the Father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20 </a:t>
            </a:r>
            <a:r>
              <a:rPr sz="2800" b="0" i="0">
                <a:solidFill>
                  <a:srgbClr val="222B36"/>
                </a:solidFill>
              </a:rPr>
              <a:t>And he arose, and came to his father. But when he was yet a great way off, his father saw him, and had compassion, and ran, and fell on his neck, and kissed him. </a:t>
            </a:r>
            <a:r>
              <a:rPr sz="1600" b="1" i="0">
                <a:solidFill>
                  <a:srgbClr val="2E5E8C"/>
                </a:solidFill>
              </a:rPr>
              <a:t>21 </a:t>
            </a:r>
            <a:r>
              <a:rPr sz="2800" b="0" i="0">
                <a:solidFill>
                  <a:srgbClr val="222B36"/>
                </a:solidFill>
              </a:rPr>
              <a:t>And the son said unto him, Father, I have sinned against heaven, and in thy sight, and am no more worthy to be called thy son.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15:11-24 (5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Coming Home to the Father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22 </a:t>
            </a:r>
            <a:r>
              <a:rPr sz="2800" b="0" i="0">
                <a:solidFill>
                  <a:srgbClr val="222B36"/>
                </a:solidFill>
              </a:rPr>
              <a:t>But the father said to his servants, Bring forth the best robe, and put it on him; and put a ring on his hand, and shoes on his feet: </a:t>
            </a:r>
            <a:r>
              <a:rPr sz="1600" b="1" i="0">
                <a:solidFill>
                  <a:srgbClr val="2E5E8C"/>
                </a:solidFill>
              </a:rPr>
              <a:t>23 </a:t>
            </a:r>
            <a:r>
              <a:rPr sz="2800" b="0" i="0">
                <a:solidFill>
                  <a:srgbClr val="222B36"/>
                </a:solidFill>
              </a:rPr>
              <a:t>And bring hither the fatted calf, and kill it; and let us eat, and be merry: </a:t>
            </a:r>
            <a:r>
              <a:rPr sz="1600" b="1" i="0">
                <a:solidFill>
                  <a:srgbClr val="2E5E8C"/>
                </a:solidFill>
              </a:rPr>
              <a:t>24 </a:t>
            </a:r>
            <a:r>
              <a:rPr sz="2800" b="0" i="0">
                <a:solidFill>
                  <a:srgbClr val="222B36"/>
                </a:solidFill>
              </a:rPr>
              <a:t>For this my son was dead, and is alive again; he was lost, and is found. And they began to be merry.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Sin promises freedom and leaves us starving</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Coming Home to the Father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son wanted his father's gifts but not his father's presence.</a:t>
            </a:r>
          </a:p>
          <a:p>
            <a:pPr>
              <a:spcAft>
                <a:spcPts val="1800"/>
              </a:spcAft>
            </a:pPr>
            <a:r>
              <a:rPr sz="3000" b="1" i="0">
                <a:solidFill>
                  <a:srgbClr val="2E5E8C"/>
                </a:solidFill>
              </a:rPr>
              <a:t>•  </a:t>
            </a:r>
            <a:r>
              <a:rPr sz="3000" b="0" i="0">
                <a:solidFill>
                  <a:srgbClr val="222B36"/>
                </a:solidFill>
              </a:rPr>
              <a:t>Sin promises freedom but leads to famine (emptiness).</a:t>
            </a:r>
          </a:p>
          <a:p>
            <a:pPr>
              <a:spcAft>
                <a:spcPts val="1000"/>
              </a:spcAft>
            </a:pPr>
            <a:r>
              <a:rPr sz="2000" b="0" i="1">
                <a:solidFill>
                  <a:srgbClr val="6B7280"/>
                </a:solidFill>
              </a:rPr>
              <a:t>Read: Luke 15:11-16; Isaiah 55:2; Romans 6:23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Repentance is coming to our senses and coming home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Coming Home to the Father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When he came to himself, he said, "I will arise and go to my father."</a:t>
            </a:r>
          </a:p>
          <a:p>
            <a:pPr>
              <a:spcAft>
                <a:spcPts val="1800"/>
              </a:spcAft>
            </a:pPr>
            <a:r>
              <a:rPr sz="3000" b="1" i="0">
                <a:solidFill>
                  <a:srgbClr val="2E5E8C"/>
                </a:solidFill>
              </a:rPr>
              <a:t>•  </a:t>
            </a:r>
            <a:r>
              <a:rPr sz="3000" b="0" i="0">
                <a:solidFill>
                  <a:srgbClr val="222B36"/>
                </a:solidFill>
              </a:rPr>
              <a:t>Repentance is a change of mind that turns us toward God.</a:t>
            </a:r>
          </a:p>
          <a:p>
            <a:pPr>
              <a:spcAft>
                <a:spcPts val="1000"/>
              </a:spcAft>
            </a:pPr>
            <a:r>
              <a:rPr sz="2000" b="0" i="1">
                <a:solidFill>
                  <a:srgbClr val="6B7280"/>
                </a:solidFill>
              </a:rPr>
              <a:t>Read: Luke 15:17-19; Psalm 51:3-4; Acts 3:19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The Father runs to meet us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Coming Home to the Father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When he was yet a great way off, his father ran and fell on his neck.</a:t>
            </a:r>
          </a:p>
          <a:p>
            <a:pPr>
              <a:spcAft>
                <a:spcPts val="1800"/>
              </a:spcAft>
            </a:pPr>
            <a:r>
              <a:rPr sz="3000" b="1" i="0">
                <a:solidFill>
                  <a:srgbClr val="2E5E8C"/>
                </a:solidFill>
              </a:rPr>
              <a:t>•  </a:t>
            </a:r>
            <a:r>
              <a:rPr sz="3000" b="0" i="0">
                <a:solidFill>
                  <a:srgbClr val="222B36"/>
                </a:solidFill>
              </a:rPr>
              <a:t>This my son was dead, and is alive again.</a:t>
            </a:r>
          </a:p>
          <a:p>
            <a:pPr>
              <a:spcAft>
                <a:spcPts val="1000"/>
              </a:spcAft>
            </a:pPr>
            <a:r>
              <a:rPr sz="2000" b="0" i="1">
                <a:solidFill>
                  <a:srgbClr val="6B7280"/>
                </a:solidFill>
              </a:rPr>
              <a:t>Read: Luke 15:20-24; Luke 15:7; Psalm 103:13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Coming Home to the Father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you think the younger son was really looking for when he left?</a:t>
            </a:r>
          </a:p>
          <a:p>
            <a:pPr>
              <a:spcAft>
                <a:spcPts val="1800"/>
              </a:spcAft>
            </a:pPr>
            <a:r>
              <a:rPr sz="2800" b="1" i="0">
                <a:solidFill>
                  <a:srgbClr val="2E5E8C"/>
                </a:solidFill>
              </a:rPr>
              <a:t>2.  </a:t>
            </a:r>
            <a:r>
              <a:rPr sz="2800" b="0" i="0">
                <a:solidFill>
                  <a:srgbClr val="222B36"/>
                </a:solidFill>
              </a:rPr>
              <a:t>What does "he came to himself" tell us about sin and about repentance?</a:t>
            </a:r>
          </a:p>
          <a:p>
            <a:pPr>
              <a:spcAft>
                <a:spcPts val="1800"/>
              </a:spcAft>
            </a:pPr>
            <a:r>
              <a:rPr sz="2800" b="1" i="0">
                <a:solidFill>
                  <a:srgbClr val="2E5E8C"/>
                </a:solidFill>
              </a:rPr>
              <a:t>3.  </a:t>
            </a:r>
            <a:r>
              <a:rPr sz="2800" b="0" i="0">
                <a:solidFill>
                  <a:srgbClr val="222B36"/>
                </a:solidFill>
              </a:rPr>
              <a:t>Why do you think the father ran? (In that culture, older men did not run.)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Coming Home to the Father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Is there anyone you know who is "a great way off" from God? How can we reflect the Father's welcome to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