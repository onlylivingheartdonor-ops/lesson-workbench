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Pharisees carefully tithed even their garden herbs, but neglected "judgment, mercy, and faith." Jesus does not say small things do not matter: "these ought ye to have done." He says the weightier matters come first. It is possible to be careful about details and careless about justice, mercy and faithfulness.</a:t>
            </a:r>
          </a:p>
          <a:p/>
          <a:p>
            <a:r>
              <a:t>“They were remarkably scrupulous in the performance of all the rites and ceremonies of religion, but totally neglected the soul, spirit, and practice of godliness.” — Adam Clarke, Commentary on the Bible, on Matthew 23:23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cup polished on the outside but dirty inside is useless for drinking. The Pharisees washed carefully but were full of greed and self-indulgence within. Jesus' remedy is not more polish but a change of heart: "cleanse first that which is within." Only God can do that, by forgiveness and the new heart he gives.</a:t>
            </a:r>
          </a:p>
          <a:p/>
          <a:p>
            <a:r>
              <a:t>“the principal care of every one of us should be to wash our hearts from wickedness” — Matthew Henry, Commentary on the Whole Bible, on Matthew 23:13-33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Whitewashed tombs look clean and bright, but inside they are full of dead men's bones. Jesus says some people "appear righteous unto men" while inside they are full of hypocrisy. God is not fooled by appearances. The good news is that he does not want us to stay that way. Honest confession is the opposite of hypocrisy.</a:t>
            </a:r>
          </a:p>
          <a:p/>
          <a:p>
            <a:r>
              <a:t>“It is possible for those that have their hearts full of sin, to have their lives free from blame, and to appear very good.” — Matthew Henry, Commentary on the Whole Bible, on Matthew 23:13-33</a:t>
            </a:r>
          </a:p>
          <a:p/>
          <a:p>
            <a:r>
              <a:t>“But what will this appearance avail a man, when God sits in judgment upon his soul?” — Adam Clarke, Commentary on the Bible, on Matthew 23:28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Clean Inside and Out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God looks past religious appearances to the heart; Jesus calls us to put first things first and to let him cleanse us from the inside out.</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23:23-28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23:23-28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23 </a:t>
            </a:r>
            <a:r>
              <a:rPr sz="2800" b="0" i="0">
                <a:solidFill>
                  <a:srgbClr val="222B36"/>
                </a:solidFill>
              </a:rPr>
              <a:t>Woe unto you, scribes and Pharisees, hypocrites! for ye pay tithe of mint and anise and cummin, and have omitted the weightier matters of the law, judgment, mercy, and faith: these ought ye to have done, and not to leave the other undone. </a:t>
            </a:r>
            <a:r>
              <a:rPr sz="1600" b="1" i="0">
                <a:solidFill>
                  <a:srgbClr val="2E5E8C"/>
                </a:solidFill>
              </a:rPr>
              <a:t>24 </a:t>
            </a:r>
            <a:r>
              <a:rPr sz="2800" b="0" i="0">
                <a:solidFill>
                  <a:srgbClr val="222B36"/>
                </a:solidFill>
              </a:rPr>
              <a:t>Ye blind guides, which strain at a gnat, and swallow a camel.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23:23-28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25 </a:t>
            </a:r>
            <a:r>
              <a:rPr sz="2800" b="0" i="0">
                <a:solidFill>
                  <a:srgbClr val="222B36"/>
                </a:solidFill>
              </a:rPr>
              <a:t>Woe unto you, scribes and Pharisees, hypocrites! for ye make clean the outside of the cup and of the platter, but within they are full of extortion and excess. </a:t>
            </a:r>
            <a:r>
              <a:rPr sz="1600" b="1" i="0">
                <a:solidFill>
                  <a:srgbClr val="2E5E8C"/>
                </a:solidFill>
              </a:rPr>
              <a:t>26 </a:t>
            </a:r>
            <a:r>
              <a:rPr sz="2800" b="0" i="0">
                <a:solidFill>
                  <a:srgbClr val="222B36"/>
                </a:solidFill>
              </a:rPr>
              <a:t>Thou blind Pharisee, cleanse first that which is within the cup and platter, that the outside of them may be clean also.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23:23-28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27 </a:t>
            </a:r>
            <a:r>
              <a:rPr sz="2800" b="0" i="0">
                <a:solidFill>
                  <a:srgbClr val="222B36"/>
                </a:solidFill>
              </a:rPr>
              <a:t>Woe unto you, scribes and Pharisees, hypocrites! for ye are like unto whited sepulchres, which indeed appear beautiful outward, but are within full of dead men’s bones, and of all uncleanness. </a:t>
            </a:r>
            <a:r>
              <a:rPr sz="1600" b="1" i="0">
                <a:solidFill>
                  <a:srgbClr val="2E5E8C"/>
                </a:solidFill>
              </a:rPr>
              <a:t>28 </a:t>
            </a:r>
            <a:r>
              <a:rPr sz="2800" b="0" i="0">
                <a:solidFill>
                  <a:srgbClr val="222B36"/>
                </a:solidFill>
              </a:rPr>
              <a:t>Even so ye also outwardly appear righteous unto men, but within ye are full of hypocrisy and iniquity.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Do not major on minors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weightier matters of the law are judgment, mercy, and faith.</a:t>
            </a:r>
          </a:p>
          <a:p>
            <a:pPr>
              <a:spcAft>
                <a:spcPts val="1800"/>
              </a:spcAft>
            </a:pPr>
            <a:r>
              <a:rPr sz="3000" b="1" i="0">
                <a:solidFill>
                  <a:srgbClr val="2E5E8C"/>
                </a:solidFill>
              </a:rPr>
              <a:t>•  </a:t>
            </a:r>
            <a:r>
              <a:rPr sz="3000" b="0" i="0">
                <a:solidFill>
                  <a:srgbClr val="222B36"/>
                </a:solidFill>
              </a:rPr>
              <a:t>They strain out a gnat and swallow a camel.</a:t>
            </a:r>
          </a:p>
          <a:p>
            <a:pPr>
              <a:spcAft>
                <a:spcPts val="1000"/>
              </a:spcAft>
            </a:pPr>
            <a:r>
              <a:rPr sz="2000" b="0" i="1">
                <a:solidFill>
                  <a:srgbClr val="6B7280"/>
                </a:solidFill>
              </a:rPr>
              <a:t>Read: Matthew 23:23-24; Micah 6:8; Luke 11:42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Clean the inside first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Cleanse first that which is within the cup.</a:t>
            </a:r>
          </a:p>
          <a:p>
            <a:pPr>
              <a:spcAft>
                <a:spcPts val="1800"/>
              </a:spcAft>
            </a:pPr>
            <a:r>
              <a:rPr sz="3000" b="1" i="0">
                <a:solidFill>
                  <a:srgbClr val="2E5E8C"/>
                </a:solidFill>
              </a:rPr>
              <a:t>•  </a:t>
            </a:r>
            <a:r>
              <a:rPr sz="3000" b="0" i="0">
                <a:solidFill>
                  <a:srgbClr val="222B36"/>
                </a:solidFill>
              </a:rPr>
              <a:t>Only God can give us a clean heart.</a:t>
            </a:r>
          </a:p>
          <a:p>
            <a:pPr>
              <a:spcAft>
                <a:spcPts val="1000"/>
              </a:spcAft>
            </a:pPr>
            <a:r>
              <a:rPr sz="2000" b="0" i="1">
                <a:solidFill>
                  <a:srgbClr val="6B7280"/>
                </a:solidFill>
              </a:rPr>
              <a:t>Read: Matthew 23:25-26; Psalm 51:10; Ezekiel 36:26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Do not be a whitewashed tomb</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Ye outwardly appear righteous unto men.</a:t>
            </a:r>
          </a:p>
          <a:p>
            <a:pPr>
              <a:spcAft>
                <a:spcPts val="1800"/>
              </a:spcAft>
            </a:pPr>
            <a:r>
              <a:rPr sz="3000" b="1" i="0">
                <a:solidFill>
                  <a:srgbClr val="2E5E8C"/>
                </a:solidFill>
              </a:rPr>
              <a:t>•  </a:t>
            </a:r>
            <a:r>
              <a:rPr sz="3000" b="0" i="0">
                <a:solidFill>
                  <a:srgbClr val="222B36"/>
                </a:solidFill>
              </a:rPr>
              <a:t>The opposite of hypocrisy is honest confession.</a:t>
            </a:r>
          </a:p>
          <a:p>
            <a:pPr>
              <a:spcAft>
                <a:spcPts val="1000"/>
              </a:spcAft>
            </a:pPr>
            <a:r>
              <a:rPr sz="2000" b="0" i="1">
                <a:solidFill>
                  <a:srgbClr val="6B7280"/>
                </a:solidFill>
              </a:rPr>
              <a:t>Read: Matthew 23:27-28; 1 Samuel 16:7; 1 John 1:8-9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"gnats" do churches sometimes strain out while swallowing "camels"?</a:t>
            </a:r>
          </a:p>
          <a:p>
            <a:pPr>
              <a:spcAft>
                <a:spcPts val="1800"/>
              </a:spcAft>
            </a:pPr>
            <a:r>
              <a:rPr sz="2800" b="1" i="0">
                <a:solidFill>
                  <a:srgbClr val="2E5E8C"/>
                </a:solidFill>
              </a:rPr>
              <a:t>2.  </a:t>
            </a:r>
            <a:r>
              <a:rPr sz="2800" b="0" i="0">
                <a:solidFill>
                  <a:srgbClr val="222B36"/>
                </a:solidFill>
              </a:rPr>
              <a:t>Why is it so easy to care more about how we look than about our hearts?</a:t>
            </a:r>
          </a:p>
          <a:p>
            <a:pPr>
              <a:spcAft>
                <a:spcPts val="1800"/>
              </a:spcAft>
            </a:pPr>
            <a:r>
              <a:rPr sz="2800" b="1" i="0">
                <a:solidFill>
                  <a:srgbClr val="2E5E8C"/>
                </a:solidFill>
              </a:rPr>
              <a:t>3.  </a:t>
            </a:r>
            <a:r>
              <a:rPr sz="2800" b="0" i="0">
                <a:solidFill>
                  <a:srgbClr val="222B36"/>
                </a:solidFill>
              </a:rPr>
              <a:t>How can a church become a place where people do not need to pretend?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Clean Inside and Out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If only God can clean the inside, what is our 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